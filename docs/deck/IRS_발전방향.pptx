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239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0B2239"/>
                </a:solidFill>
                <a:latin typeface="Malgun Gothic"/>
              </a:rPr>
              <a:t>단독 가정 하나만 바꿨을 때 판정이 뒤집힌 종목 수 (n = 34)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판정이 뒤집힌 종목 수</c:v>
                </c:pt>
              </c:strCache>
            </c:strRef>
          </c:tx>
          <c:spPr>
            <a:solidFill>
              <a:srgbClr val="123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2239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모델 선택</c:v>
                  </c:pt>
                  <c:pt idx="1">
                    <c:v>할인율</c:v>
                  </c:pt>
                  <c:pt idx="2">
                    <c:v>터미널 성장률</c:v>
                  </c:pt>
                  <c:pt idx="3">
                    <c:v>위험점수(DRS) 전체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6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2239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636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239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0B2239"/>
                </a:solidFill>
                <a:latin typeface="Malgun Gothic"/>
              </a:rPr>
              <a:t>그 가정 하나를 빼면 옮겨야 하는 자본 비중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자본 이동량</c:v>
                </c:pt>
              </c:strCache>
            </c:strRef>
          </c:tx>
          <c:spPr>
            <a:solidFill>
              <a:srgbClr val="1239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B2239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버킷 분산 강제</c:v>
                  </c:pt>
                  <c:pt idx="1">
                    <c:v>버킷 목표 비중</c:v>
                  </c:pt>
                  <c:pt idx="2">
                    <c:v>버킷 달성률 바닥</c:v>
                  </c:pt>
                  <c:pt idx="3">
                    <c:v>종목당 상한</c:v>
                  </c:pt>
                  <c:pt idx="4">
                    <c:v>신뢰도 축</c:v>
                  </c:pt>
                  <c:pt idx="5">
                    <c:v>정성 심층조사 반영</c:v>
                  </c:pt>
                  <c:pt idx="6">
                    <c:v>리스크 플래그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17.92</c:v>
                </c:pt>
                <c:pt idx="1">
                  <c:v>16.64</c:v>
                </c:pt>
                <c:pt idx="2">
                  <c:v>6</c:v>
                </c:pt>
                <c:pt idx="3">
                  <c:v>5.18</c:v>
                </c:pt>
                <c:pt idx="4">
                  <c:v>2.78</c:v>
                </c:pt>
                <c:pt idx="5">
                  <c:v>2.68</c:v>
                </c:pt>
                <c:pt idx="6">
                  <c:v>1.06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B2239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5636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보고의 결론은 하나다 — 지금 필요한 것은 더 정교한 분석이 아니라 검증 루프다.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02가 이 보고의 핵심이다. 01은 자랑이 아니라 02를 말하기 위한 전제다.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윗줄과 아랫줄의 대비가 이 보고 전체의 출발점이다.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신뢰도 점수를 만들지 않는 이유 — 공백이 평균 뒤에 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루프를 닫는 것은 새 기능이 아니라 기록 습관의 문제다.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'분석을 더 정교하게'라는 직관을 실측으로 반박한다.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 없는 상수를 근거 없는 다른 숫자로 바꾸는 것은 개선이 아니다 — 그래서 지금은 드러내기만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강조할 점 — 이건 개발 과제가 아니라 운영 규율 과제다.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축의 순서가 중요하다 — 기록 없이는 관측이 불가능하고, 관측 없이는 학습이 불가능하다.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P0는 개발이 아니라 규율이다. 90일 안에 끝나지 않으면 그건 자원 문제가 아니라 습관 문제다.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과장하지 않는 것이 이 시스템의 유일한 자산이다.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원칙은 선언이 아니라 실제로 무언가를 거부했을 때만 원칙이다.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문장으로 끝낸다 — 판단이 맞았는지 알 수 있는 상태를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발전 방향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0358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더 얹기 전에, 판단과 결과를 잇는 루프를 닫는다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리서치 운영체계 · 전략 방향 보고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버전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266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v3.71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종목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5266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테스트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5266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5266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보고가 주장하는 것은 세 가지다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111831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190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164592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인프라는 완성 단계에 있다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1975104"/>
            <a:ext cx="9948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29일간 35개 모듈 · 917 회귀 테스트 · 34종목 분석. 계산 재현성은 34/34 완전 일치.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2249424"/>
            <a:ext cx="9948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자기 자신과 일치하는가 — 이 질문에는 충분히 답할 수 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71216"/>
            <a:ext cx="111831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14553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9B3A32"/>
          </a:solidFill>
          <a:ln w="12700">
            <a:solidFill>
              <a:srgbClr val="9B3A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30723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검증 루프가 열려 있다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401568"/>
            <a:ext cx="9948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34건을 동결했으나 해소 0건. 투자 논거 기록 0건. 실험 9건 중 5건이 데이터 부재로 차단.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675888"/>
            <a:ext cx="9948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판단이 현실과 맞았는가 — 이 질문에는 아직 한 건도 답하지 못했다.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111831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720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2395C"/>
          </a:solidFill>
          <a:ln w="12700">
            <a:solidFill>
              <a:srgbClr val="1239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572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9884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다음 투자는 분석이 아니라 기록·관측이다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4828032"/>
            <a:ext cx="9948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실측상 정밀화 여지가 큰 축은 이미 드러나 있고, 자본을 실제로 움직이는 것은 그 축이 아니었다.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5102352"/>
            <a:ext cx="9948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심화는 루프를 닫은 뒤에 해도 늦지 않다.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8621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" y="5760720"/>
            <a:ext cx="10524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—  지금 필요한 것은 더 정교한 분석이 아니라, 판단이 맞았는지 알 수 있는 상태다.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 — 29일간 무엇을 만들었는가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2026-07-25 최초 분석 이후 누적 실측치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17904"/>
            <a:ext cx="25488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116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모듈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212848"/>
            <a:ext cx="2548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· 스크리닝 · 감시 · 검증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380994" y="1517904"/>
            <a:ext cx="25488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380994" y="20116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테스트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380994" y="2212848"/>
            <a:ext cx="2548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커밋에서 자동 실행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259068" y="1517904"/>
            <a:ext cx="25488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59068" y="20116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종목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259068" y="2212848"/>
            <a:ext cx="2548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재현용 원장 보관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9137142" y="1517904"/>
            <a:ext cx="25488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37142" y="20116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37142" y="2212848"/>
            <a:ext cx="2548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감사 추적 가능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11183112" cy="1481328"/>
          </a:xfrm>
          <a:prstGeom prst="roundRect">
            <a:avLst>
              <a:gd name="adj" fmla="val 30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3182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매일 실행되는 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" y="3529584"/>
            <a:ext cx="197327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9584"/>
            <a:ext cx="19732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09:00 자동 기동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51683" y="3529584"/>
            <a:ext cx="197327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51683" y="3529584"/>
            <a:ext cx="19732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선별 파이프라인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07838" y="3529584"/>
            <a:ext cx="197327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07838" y="3529584"/>
            <a:ext cx="19732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 원자료 검증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3994" y="3529584"/>
            <a:ext cx="197327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3994" y="3529584"/>
            <a:ext cx="19732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스크리닝 스냅샷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20149" y="3529584"/>
            <a:ext cx="197327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20149" y="3529584"/>
            <a:ext cx="19732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관심종목 감시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700016"/>
            <a:ext cx="11183112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795528" y="48646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한 번도 운영되지 않은 것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5175504"/>
            <a:ext cx="19732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" y="5541264"/>
            <a:ext cx="19732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논거 기록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951683" y="5175504"/>
            <a:ext cx="19732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2951683" y="5541264"/>
            <a:ext cx="19732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해소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107838" y="5175504"/>
            <a:ext cx="19732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5107838" y="5541264"/>
            <a:ext cx="19732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수익률 관측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263994" y="5175504"/>
            <a:ext cx="19732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34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7263994" y="5541264"/>
            <a:ext cx="19732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검증 완료 분석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420149" y="5175504"/>
            <a:ext cx="19732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34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9420149" y="5541264"/>
            <a:ext cx="19732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진입가 기록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95528" y="5870448"/>
            <a:ext cx="1059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다섯 항목은 기능이 없어서가 아니라, 기능은 있는데 채워진 적이 없어서 0이다.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신뢰도는 하나의 숫자가 아니다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축별로 나누면 강한 곳과 빈 곳이 분명히 갈린다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8311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재현성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568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입력으로 재실행 시 8개 핵심지표 완전 일치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63640" y="1865376"/>
            <a:ext cx="3520440" cy="237744"/>
          </a:xfrm>
          <a:prstGeom prst="roundRect">
            <a:avLst>
              <a:gd name="adj" fmla="val 11538"/>
            </a:avLst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65376"/>
            <a:ext cx="3520440" cy="237744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85248" y="18105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34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451592" y="1865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1118311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16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대 1차자료 일치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1272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34종목 1,256개 값을 SEC 원자료와 대조 · 불일치 원인 전수 분류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3035808"/>
            <a:ext cx="3520440" cy="237744"/>
          </a:xfrm>
          <a:prstGeom prst="roundRect">
            <a:avLst>
              <a:gd name="adj" fmla="val 11538"/>
            </a:avLst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035808"/>
            <a:ext cx="2957170" cy="237744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85248" y="29809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84.0%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451592" y="30358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822192"/>
            <a:ext cx="1118311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986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강건성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정당화 가능한 가정 격자에서 판정이 유지되는 종목 비율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4206240"/>
            <a:ext cx="3520440" cy="237744"/>
          </a:xfrm>
          <a:prstGeom prst="roundRect">
            <a:avLst>
              <a:gd name="adj" fmla="val 11538"/>
            </a:avLst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206240"/>
            <a:ext cx="1337767" cy="237744"/>
          </a:xfrm>
          <a:prstGeom prst="roundRect">
            <a:avLst>
              <a:gd name="adj" fmla="val 11538"/>
            </a:avLst>
          </a:prstGeom>
          <a:solidFill>
            <a:srgbClr val="9A6B2F"/>
          </a:solidFill>
          <a:ln w="6350">
            <a:solidFill>
              <a:srgbClr val="9A6B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5248" y="41513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34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451592" y="42062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검증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992624"/>
            <a:ext cx="1118311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157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성과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468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수익률 관측 자체가 없다 — 측정을 시작한 적이 없다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5376672"/>
            <a:ext cx="3520440" cy="237744"/>
          </a:xfrm>
          <a:prstGeom prst="roundRect">
            <a:avLst>
              <a:gd name="adj" fmla="val 11538"/>
            </a:avLst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85248" y="53218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건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451592" y="5376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미검증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053328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네 축은 곱해지지 않는다.  앞의 세 축이 아무리 높아도 마지막 축을 대신하지 못한다 — 서로 다른 질문에 답하기 때문이다.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 — 루프의 절반만 닫혀 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발굴에서 판단까지는 돌아가지만, 판단에서 학습으로 돌아오지 않는다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중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52704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11680"/>
            <a:ext cx="1527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75688" y="2368296"/>
            <a:ext cx="21945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40864" y="2011680"/>
            <a:ext cx="152704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0864" y="2011680"/>
            <a:ext cx="1527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13632" y="2368296"/>
            <a:ext cx="21945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78808" y="2011680"/>
            <a:ext cx="152704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78808" y="2011680"/>
            <a:ext cx="1527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멈춰 있음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73952" y="2011680"/>
            <a:ext cx="1527048" cy="713232"/>
          </a:xfrm>
          <a:prstGeom prst="roundRect">
            <a:avLst>
              <a:gd name="adj" fmla="val 6410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473952" y="2011680"/>
            <a:ext cx="1527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관측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2368296"/>
            <a:ext cx="219456" cy="0"/>
          </a:xfrm>
          <a:prstGeom prst="line">
            <a:avLst/>
          </a:prstGeom>
          <a:noFill/>
          <a:ln w="19050">
            <a:solidFill>
              <a:srgbClr val="CBD5DF"/>
            </a:solidFill>
            <a:prstDash val="dash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11896" y="2011680"/>
            <a:ext cx="1527048" cy="713232"/>
          </a:xfrm>
          <a:prstGeom prst="roundRect">
            <a:avLst>
              <a:gd name="adj" fmla="val 6410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311896" y="2011680"/>
            <a:ext cx="1527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귀속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84664" y="2368296"/>
            <a:ext cx="219456" cy="0"/>
          </a:xfrm>
          <a:prstGeom prst="line">
            <a:avLst/>
          </a:prstGeom>
          <a:noFill/>
          <a:ln w="19050">
            <a:solidFill>
              <a:srgbClr val="CBD5DF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49840" y="2011680"/>
            <a:ext cx="1527048" cy="713232"/>
          </a:xfrm>
          <a:prstGeom prst="roundRect">
            <a:avLst>
              <a:gd name="adj" fmla="val 6410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0149840" y="2011680"/>
            <a:ext cx="1527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개선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33872" y="2368296"/>
            <a:ext cx="512064" cy="0"/>
          </a:xfrm>
          <a:prstGeom prst="line">
            <a:avLst/>
          </a:prstGeom>
          <a:noFill/>
          <a:ln w="25400">
            <a:solidFill>
              <a:srgbClr val="9B3A32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632704" y="2798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단절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1183112" cy="118872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2735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단절이 만드는 실제 결과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3566160"/>
            <a:ext cx="10597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판단이 맞았는지 틀렸는지 알 수 없으므로, 잘못된 가정이 교정되지 않고 계속 쓰인다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무엇을 개선해야 성과가 좋아지는지 알 수 없으므로, 개선 우선순위가 직관에 의존한다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시간이 지나도 축적되는 것이 코드뿐이고, 판단 능력은 축적되지 않는다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517136"/>
            <a:ext cx="11183112" cy="1719072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681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루프를 닫는다는 것의 정확한 의미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95528" y="5010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시점에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5010912"/>
            <a:ext cx="9079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믿었는지 · 어떤 조건이면 틀린 것인지 기록한다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95528" y="5394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오면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5394960"/>
            <a:ext cx="9079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조건이 실제로 발동했는지 확인하고 결과를 남긴다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5779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나면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5779008"/>
            <a:ext cx="9079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· 마진 · 산업 · 경영진 · 밸류에이션 · 데이터 중 어디서 틀렸는지 귀속한다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근거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① 무엇이 판정을 좌우하는가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가정을 하나씩 흔들어 34종목의 판정이 뒤집히는 횟수를 측정했다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13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517904"/>
          <a:ext cx="6675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1572768"/>
            <a:ext cx="4142232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63256" y="1664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32%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63256" y="201168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하나로 판정이 뒤집히는 종목 비율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43800" y="2487168"/>
            <a:ext cx="4142232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63256" y="25786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3%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63256" y="292608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위험점수를 정의역 전체로 흔들어도 뒤집히는 비율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43800" y="3401568"/>
            <a:ext cx="4142232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63256" y="3493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+0.850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763256" y="384048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Gap과 현실적 성장률의 순위상관 — 순위를 지배하는 축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4443984"/>
            <a:ext cx="11183112" cy="1700784"/>
          </a:xfrm>
          <a:prstGeom prst="roundRect">
            <a:avLst>
              <a:gd name="adj" fmla="val 268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" y="4608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" y="4882896"/>
            <a:ext cx="10597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정밀화의 우선순위가 실제 영향력과 어긋나 있었다.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위험점수(DRS)는 다섯 개 구성요소와 여러 차례의 정성 조사가 투입된 축이지만, 정의역 전체를 흔들어도 판정은 34종목 중 1건만 바뀐다. 반대로 모델 선택은 분석자가 자유서술 근거만 남기고 고르는 항목인데 32%를 뒤집는다.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개선은 지표를 더 얹는 쪽이 아니라, 가장 큰 축(성장률 가정과 모델 선택)이 현실과 맞았는지 확인하는 쪽이어야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근거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② 무엇이 자본을 좌우하는가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비중을 정하는 가정을 하나씩 제거해 옮겨야 하는 자본의 양을 측정했다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13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517904"/>
          <a:ext cx="66751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1572768"/>
            <a:ext cx="4142232" cy="2743200"/>
          </a:xfrm>
          <a:prstGeom prst="roundRect">
            <a:avLst>
              <a:gd name="adj" fmla="val 1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63256" y="177393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노력과 영향이 역비례한다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63256" y="219456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많은 노력을 들인 축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63256" y="23957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심층조사 33종목 · 5개 관점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763256" y="2596896"/>
            <a:ext cx="3685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2.68%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63256" y="310896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없이 정한 상수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63256" y="3310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목표 비중 40 / 30 / 20 / 10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763256" y="3511296"/>
            <a:ext cx="3685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16.64%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763256" y="396849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6배 차이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517136"/>
            <a:ext cx="1118311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" y="4681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" y="4956048"/>
            <a:ext cx="10597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품질을 높여도 자본 배분은 거의 움직이지 않는다.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비중을 결정하는 것은 종목 분석이 아니라 포트폴리오 규칙이고, 그 규칙의 상위 두 항목은 근거가 기록된 바 없다. 이 사실을 모른 채 분석만 정교화하면, 투입 대비 성과가 나오지 않는 이유를 영영 알 수 없다.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상수들을 임의로 바꾸지 않는다. 대신 성과 관측이 쌓인 뒤 근거를 갖고 조정한다.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근거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③ 왜 아직 검증할 수 없는가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검증은 의지의 문제가 아니라 전제조건의 문제다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3508248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700784"/>
            <a:ext cx="2996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956816"/>
            <a:ext cx="299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29일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450592"/>
            <a:ext cx="299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분석 이력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706624"/>
            <a:ext cx="2996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보유수익률 구간이 존재하지 않는다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0352" y="1517904"/>
            <a:ext cx="3508248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6384" y="1700784"/>
            <a:ext cx="2996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진입가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1956816"/>
            <a:ext cx="299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34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4596384" y="2450592"/>
            <a:ext cx="299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시점 주가 기록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96384" y="2706624"/>
            <a:ext cx="2996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25종목은 수익률 계산 자체가 불가능하다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77784" y="1517904"/>
            <a:ext cx="3508248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3816" y="1700784"/>
            <a:ext cx="2996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고정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33816" y="1956816"/>
            <a:ext cx="299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34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8433816" y="2450592"/>
            <a:ext cx="299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미래정보 미사용 검증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433816" y="2706624"/>
            <a:ext cx="2996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시점 재현 시 최신 판본이 섞여 들어간다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493008"/>
            <a:ext cx="11183112" cy="786384"/>
          </a:xfrm>
          <a:prstGeom prst="roundRect">
            <a:avLst>
              <a:gd name="adj" fmla="val 5814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" y="3493008"/>
            <a:ext cx="10524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관문 중 하나라도 비면 성과 검증은 시작되지 않는다.  현재 세 관문이 모두 비어 있고, 그 결과 실현 수익률 관측은 0건이다.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498848"/>
            <a:ext cx="11183112" cy="1664208"/>
          </a:xfrm>
          <a:prstGeom prst="roundRect">
            <a:avLst>
              <a:gd name="adj" fmla="val 274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" y="46634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확인된 비용 — 같은 실수가 두 번 반복됐다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" y="4956048"/>
            <a:ext cx="10597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진입가 필드는 백테스트 전제조건이라며 도입됐지만 아무도 채우지 않았고, 12일 뒤 감시 기능을 만들 때 «34종목 중 24종목은 계산 자체가 불가능»이라는 형태로 비용이 드러났다.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고정 필드도 같은 경로를 밟고 있다 — 도입은 됐고, 채워진 것은 3건이다.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새로 만들 기능은 없다. 새 분석에서 세 필드를 채우는 것이 전부이며, 그것이 유일한 병목이다.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방향성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 방향 — 세 개의 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«분석을 더 얹지 않는다»는 하나의 원칙에서 나온다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532632" cy="367588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700784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12395C"/>
          </a:solidFill>
          <a:ln w="12700">
            <a:solidFill>
              <a:srgbClr val="1239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170078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084832"/>
            <a:ext cx="3020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판단을 기록한다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660904"/>
            <a:ext cx="82296" cy="82296"/>
          </a:xfrm>
          <a:prstGeom prst="ellipse">
            <a:avLst/>
          </a:prstGeom>
          <a:solidFill>
            <a:srgbClr val="12395C"/>
          </a:solidFill>
          <a:ln w="6350">
            <a:solidFill>
              <a:srgbClr val="123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2578608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논거를 종목별로 남긴다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227832"/>
            <a:ext cx="82296" cy="82296"/>
          </a:xfrm>
          <a:prstGeom prst="ellipse">
            <a:avLst/>
          </a:prstGeom>
          <a:solidFill>
            <a:srgbClr val="12395C"/>
          </a:solidFill>
          <a:ln w="6350">
            <a:solidFill>
              <a:srgbClr val="1239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3145536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가정과 반증조건을 함께 적는다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82296" cy="82296"/>
          </a:xfrm>
          <a:prstGeom prst="ellipse">
            <a:avLst/>
          </a:prstGeom>
          <a:solidFill>
            <a:srgbClr val="12395C"/>
          </a:solidFill>
          <a:ln w="6350">
            <a:solidFill>
              <a:srgbClr val="123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3712464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· 관찰 · 제외 판단과 근거를 원장에 넣는다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" y="4443984"/>
            <a:ext cx="302056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" y="4443984"/>
            <a:ext cx="272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판단이 대화와 커밋 메시지에만 남는다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28160" y="1481328"/>
            <a:ext cx="3532632" cy="367588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4192" y="1700784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84192" y="170078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84192" y="2084832"/>
            <a:ext cx="3020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관측한다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02480" y="2660904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3648" y="2578608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분석마다 진입가 · 시점 · 출처를 채운다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2480" y="3227832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3648" y="3145536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온 반증조건을 확인하고 닫는다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2480" y="3794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3648" y="3712464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예측과 실제의 차이를 부호까지 보존한다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84192" y="4443984"/>
            <a:ext cx="302056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30496" y="4443984"/>
            <a:ext cx="272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예측 34건이 동결된 채 열리지 않는다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53400" y="1481328"/>
            <a:ext cx="3532632" cy="367588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09432" y="1700784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2F7D5D"/>
          </a:solidFill>
          <a:ln w="12700">
            <a:solidFill>
              <a:srgbClr val="2F7D5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09432" y="170078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409432" y="2084832"/>
            <a:ext cx="3020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학습으로 되돌린다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427720" y="2660904"/>
            <a:ext cx="82296" cy="82296"/>
          </a:xfrm>
          <a:prstGeom prst="ellipse">
            <a:avLst/>
          </a:prstGeom>
          <a:solidFill>
            <a:srgbClr val="2F7D5D"/>
          </a:solidFill>
          <a:ln w="6350">
            <a:solidFill>
              <a:srgbClr val="2F7D5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28888" y="2578608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여섯 개 오류 유형으로 귀속한다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27720" y="3227832"/>
            <a:ext cx="82296" cy="82296"/>
          </a:xfrm>
          <a:prstGeom prst="ellipse">
            <a:avLst/>
          </a:prstGeom>
          <a:solidFill>
            <a:srgbClr val="2F7D5D"/>
          </a:solidFill>
          <a:ln w="6350">
            <a:solidFill>
              <a:srgbClr val="2F7D5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28888" y="3145536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 결과로 가정과 상수를 조정한다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27720" y="3794760"/>
            <a:ext cx="82296" cy="82296"/>
          </a:xfrm>
          <a:prstGeom prst="ellipse">
            <a:avLst/>
          </a:prstGeom>
          <a:solidFill>
            <a:srgbClr val="2F7D5D"/>
          </a:solidFill>
          <a:ln w="6350">
            <a:solidFill>
              <a:srgbClr val="2F7D5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28888" y="3712464"/>
            <a:ext cx="2782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 근거를 사전등록하고 사후에 바꾸지 않는다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09432" y="4443984"/>
            <a:ext cx="302056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55736" y="4443984"/>
            <a:ext cx="272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개선 우선순위가 직관에 의존한다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5376672"/>
            <a:ext cx="11183112" cy="768096"/>
          </a:xfrm>
          <a:prstGeom prst="roundRect">
            <a:avLst>
              <a:gd name="adj" fmla="val 595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2104" y="5376672"/>
            <a:ext cx="10524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 모두 새 밸류에이션 기능을 요구하지 않는다.  필요한 코드는 이미 있고, 필요한 것은 그 코드를 실제로 쓰는 운영 규율이다.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로드맵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조건이 충족되어야 다음 단계로 넘어간다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532632" cy="385876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700784"/>
            <a:ext cx="512064" cy="292608"/>
          </a:xfrm>
          <a:prstGeom prst="roundRect">
            <a:avLst>
              <a:gd name="adj" fmla="val 15625"/>
            </a:avLst>
          </a:prstGeom>
          <a:solidFill>
            <a:srgbClr val="12395C"/>
          </a:solidFill>
          <a:ln w="12700">
            <a:solidFill>
              <a:srgbClr val="1239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170078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62456" y="1737360"/>
            <a:ext cx="241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~ 90일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103120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시작한다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256032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분석에 진입가 · 시점 · 출처 필수화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310896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논거 스키마를 실제로 채운다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3657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365760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기록을 매수리스트와 연결한다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420624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반증조건 기한 감시를 일일 실행에 배선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" y="4754880"/>
            <a:ext cx="3020568" cy="402336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" y="4754880"/>
            <a:ext cx="272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판정 — 신규 분석 100%가 세 필드를 갖춘다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90416" y="3383280"/>
            <a:ext cx="182880" cy="0"/>
          </a:xfrm>
          <a:prstGeom prst="line">
            <a:avLst/>
          </a:prstGeom>
          <a:noFill/>
          <a:ln w="19050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28160" y="1481328"/>
            <a:ext cx="3532632" cy="385876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84192" y="1700784"/>
            <a:ext cx="512064" cy="292608"/>
          </a:xfrm>
          <a:prstGeom prst="roundRect">
            <a:avLst>
              <a:gd name="adj" fmla="val 1562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84192" y="170078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87696" y="1737360"/>
            <a:ext cx="241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~ 12개월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84192" y="2103120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측정한다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84192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40224" y="256032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동결된 예측 34건을 기한 도래 순으로 해소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84192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840224" y="310896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성장률 대비 오차를 부호까지 기록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84192" y="3657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840224" y="365760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실험 H-006 검정 실행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84192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840224" y="420624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여섯 유형으로 귀속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84192" y="4754880"/>
            <a:ext cx="3020568" cy="402336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30496" y="4754880"/>
            <a:ext cx="272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판정 — 예측 해소율 70% 이상, 귀속 리포트 발행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915656" y="3383280"/>
            <a:ext cx="182880" cy="0"/>
          </a:xfrm>
          <a:prstGeom prst="line">
            <a:avLst/>
          </a:prstGeom>
          <a:noFill/>
          <a:ln w="19050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153400" y="1481328"/>
            <a:ext cx="3532632" cy="385876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09432" y="1700784"/>
            <a:ext cx="512064" cy="292608"/>
          </a:xfrm>
          <a:prstGeom prst="roundRect">
            <a:avLst>
              <a:gd name="adj" fmla="val 15625"/>
            </a:avLst>
          </a:prstGeom>
          <a:solidFill>
            <a:srgbClr val="2F7D5D"/>
          </a:solidFill>
          <a:ln w="12700">
            <a:solidFill>
              <a:srgbClr val="2F7D5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09432" y="170078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012936" y="1737360"/>
            <a:ext cx="241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이후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409432" y="2103120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심화한다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09432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8665464" y="256032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품질 지표를 판정 경로에 승격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409432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665464" y="310896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해자 · 투하자본 정의 확립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409432" y="3657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665464" y="365760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국면 신호 도입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409432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665464" y="4206240"/>
            <a:ext cx="2746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규칙 상수 재검토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09432" y="4754880"/>
            <a:ext cx="3020568" cy="402336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55736" y="4754880"/>
            <a:ext cx="272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조건 — P1의 귀속 결과가 개선 방향을 지목할 때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5541264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P2를 먼저 시작하지 않는다.  루프를 닫기 전에 분석을 심화하면, 쓰이지 않는 지표만 늘고 어느 개선이 효과가 있었는지 끝내 알 수 없게 된다.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설계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성공과 실패를 무엇으로 판정하는가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기준을 결과가 나오기 전에 고정한다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426964" cy="2231136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82496"/>
            <a:ext cx="4878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성공으로 판정하는 조건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해소율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2048256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내 70% 이상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50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성장률 예측 오차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807208" y="2450592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순진한 과거 CAGR 연장 대비 축소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852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귀속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807208" y="2852928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유형 중 특정 유형에 집중이 나타남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55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기록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07208" y="3255264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분석 100%가 논거·반증조건 보유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59068" y="1481328"/>
            <a:ext cx="5426964" cy="2231136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9B3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3388" y="1682496"/>
            <a:ext cx="4878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실패로 판정하는 조건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3388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해소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63356" y="2048256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뒤에도 해소율 30% 미만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33388" y="2450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정확도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563356" y="2450592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무정보 상수 추정보다 나쁨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33388" y="2852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귀속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63356" y="2852928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유형이 무작위로 흩어져 개선 지점을 못 지목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33388" y="3255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563356" y="3255264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필드가 신규 분석에서 다시 비기 시작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913632"/>
            <a:ext cx="11183112" cy="1207008"/>
          </a:xfrm>
          <a:prstGeom prst="roundRect">
            <a:avLst>
              <a:gd name="adj" fmla="val 378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4078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기준을 미리 고정하는 이유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4352544"/>
            <a:ext cx="10597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본 뒤에 기준을 조정하면 어떤 결과도 «성공»으로 서술할 수 있다. 그래서 예측은 해시로 봉인하고, 실험은 결과가 존재하기 전에 등록하며, 실패한 실험은 삭제 경로 자체를 만들지 않았다.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등록된 실험 9건 중 5건이 «데이터 부재로 차단» 상태다 — 이 상태를 숨기지 않는 것이 설계의 일부다.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303520"/>
            <a:ext cx="111831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" y="5303520"/>
            <a:ext cx="10524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이 보고는 IRS가 시장을 이긴다고 주장하지 않는다.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현재까지 측정된 것은 내부 일관성뿐이며, 초과수익에 대한 근거는 한 건도 없다. 그것을 측정할 수 있는 상태로 만드는 것이 이번 방향성의 전부다.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원칙과 의도적으로 하지 않는 것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926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 않을지 정하는 것도 방향성이다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44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타협하지 않는 원칙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105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18105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날조 금지 · 없는 데이터는 없는 것으로 기록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22677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 우선 · 인용의 위치까지 추적 가능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01368" y="27249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판정에 반영하기 전에 측정 · 사후 임계값 조정 금지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801368" y="31821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승인 필수 · 자동 매수 금지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6393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01368" y="36393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재현 · 불변 기록 · 감사 추적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444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의도적으로 만들지 않는 것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810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종합 점수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531352" y="1810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중요도가 다른 축이 같은 무게가 되고 공백이 점수 뒤에 숨는다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매매 · 자동 매수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22677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사람이 한다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예측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531352" y="2724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체계는 기대와 현실의 격차를 다루지 예측을 하지 않는다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상관행렬 최적화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531352" y="31821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 시계열 자체가 없다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3A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에이전트 구조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531352" y="36393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조율이 아니라 입력 근거의 부재다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315968"/>
            <a:ext cx="11183112" cy="1810512"/>
          </a:xfrm>
          <a:prstGeom prst="roundRect">
            <a:avLst>
              <a:gd name="adj" fmla="val 252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" y="4480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원칙들이 실제로 작동한 사례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" y="4791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측정이 가설을 기각했다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813048" y="4791456"/>
            <a:ext cx="7580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품질 지표 후보가 실은 주식보상 강도를 재고 있었음이 상관 측정에서 드러나 폐기됐다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5193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오류를 구조로 막았다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813048" y="5193792"/>
            <a:ext cx="7580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값을 두 통화로 보고하는 기업을 «재작성»으로 오탐한 사고를 계기로, 단위 혼재 경고를 배선했다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" y="5596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수정을 거부했다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813048" y="5596128"/>
            <a:ext cx="7580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임계값이 결과와 어긋나 보여도, 근거 없이 유지하던 값을 근거 없는 다른 값으로 바꾸지 않았다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96012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8988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필요한 것은 더 정교한 분석이 아니라,</a:t>
            </a:r>
            <a:endParaRPr lang="en-US" sz="27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판단이 맞았는지 알 수 있는 상태다.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035808"/>
            <a:ext cx="3206496" cy="1298448"/>
          </a:xfrm>
          <a:prstGeom prst="roundRect">
            <a:avLst>
              <a:gd name="adj" fmla="val 4225"/>
            </a:avLst>
          </a:prstGeom>
          <a:solidFill>
            <a:srgbClr val="16334F"/>
          </a:solidFill>
          <a:ln w="12700">
            <a:solidFill>
              <a:srgbClr val="2B4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0432" y="3255264"/>
            <a:ext cx="269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3602736"/>
            <a:ext cx="269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시점에 무엇을 믿었고 어떤 조건이면 틀린 것인지 남긴다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3232" y="3035808"/>
            <a:ext cx="3206496" cy="1298448"/>
          </a:xfrm>
          <a:prstGeom prst="roundRect">
            <a:avLst>
              <a:gd name="adj" fmla="val 4225"/>
            </a:avLst>
          </a:prstGeom>
          <a:solidFill>
            <a:srgbClr val="16334F"/>
          </a:solidFill>
          <a:ln w="12700">
            <a:solidFill>
              <a:srgbClr val="2B4E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79264" y="3255264"/>
            <a:ext cx="269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79264" y="3602736"/>
            <a:ext cx="269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오면 실제 결과를 확인하고 예측과의 차이를 보존한다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2064" y="3035808"/>
            <a:ext cx="3206496" cy="1298448"/>
          </a:xfrm>
          <a:prstGeom prst="roundRect">
            <a:avLst>
              <a:gd name="adj" fmla="val 4225"/>
            </a:avLst>
          </a:prstGeom>
          <a:solidFill>
            <a:srgbClr val="16334F"/>
          </a:solidFill>
          <a:ln w="12700">
            <a:solidFill>
              <a:srgbClr val="2B4E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8096" y="3255264"/>
            <a:ext cx="269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되돌린다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8096" y="3602736"/>
            <a:ext cx="269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난 이유를 귀속해 가정과 규칙을 근거 있게 고친다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731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착수 시점의 판단 기준은 단 하나다 — 다음 분석부터 진입가 · 시점 · 논거를 채우는가.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19379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5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2026-08-27 저장소 실측값이며, 추정치를 포함하지 않는다.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55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발전 방향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058875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IRS 발전 방향</dc:title>
  <dc:subject>PptxGenJS Presentation</dc:subject>
  <dc:creator>IRS</dc:creator>
  <cp:lastModifiedBy>IRS</cp:lastModifiedBy>
  <cp:revision>1</cp:revision>
  <dcterms:created xsi:type="dcterms:W3CDTF">2026-08-28T07:16:06Z</dcterms:created>
  <dcterms:modified xsi:type="dcterms:W3CDTF">2026-08-28T07:16:06Z</dcterms:modified>
</cp:coreProperties>
</file>