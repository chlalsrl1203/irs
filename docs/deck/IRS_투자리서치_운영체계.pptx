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구조: 발굴 → 조사 → 판단 → 감시 → 재평가 → 학습의 폐쇄 루프. 06 사람의 판단은 자동화하지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좌측은 실제로 매일 실행되는 것만 담았다. 우측의 상태 표기는 '코드는 있으나 운영 기록 0건'을 숨기지 않기 위한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P2를 먼저 하지 않는다. 루프를 닫기 전에 분석 복잡도를 늘리면 쓰이지 않는 지표만 쌓인다.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65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 투자 리서치 운영체계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86384"/>
            <a:ext cx="11365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지속적 리서치 → 판단 → 감시 → 학습으로 닫히는 폐쇄 루프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389888"/>
            <a:ext cx="1276731" cy="2212848"/>
          </a:xfrm>
          <a:prstGeom prst="roundRect">
            <a:avLst>
              <a:gd name="adj" fmla="val 4297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" y="1508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2E6F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755648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· 데이터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020824"/>
            <a:ext cx="10938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 &amp; Data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2194560"/>
            <a:ext cx="1093851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데이터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 공시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공시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· 외부 근거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01927" y="2496312"/>
            <a:ext cx="137160" cy="0"/>
          </a:xfrm>
          <a:prstGeom prst="line">
            <a:avLst/>
          </a:prstGeom>
          <a:noFill/>
          <a:ln w="15875">
            <a:solidFill>
              <a:srgbClr val="8A98A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52803" y="1389888"/>
            <a:ext cx="1276731" cy="2212848"/>
          </a:xfrm>
          <a:prstGeom prst="roundRect">
            <a:avLst>
              <a:gd name="adj" fmla="val 4297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53387" y="1508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2E6F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953387" y="1755648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발굴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953387" y="2020824"/>
            <a:ext cx="10938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Discovery</a:t>
            </a:r>
            <a:endParaRPr lang="en-US" sz="650" dirty="0"/>
          </a:p>
        </p:txBody>
      </p:sp>
      <p:sp>
        <p:nvSpPr>
          <p:cNvPr id="14" name="Text 12"/>
          <p:cNvSpPr txBox="1"/>
          <p:nvPr/>
        </p:nvSpPr>
        <p:spPr>
          <a:xfrm>
            <a:off x="1953387" y="2194560"/>
            <a:ext cx="1093851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스크리닝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유니버스 필터링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식별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43250" y="2496312"/>
            <a:ext cx="137160" cy="0"/>
          </a:xfrm>
          <a:prstGeom prst="line">
            <a:avLst/>
          </a:prstGeom>
          <a:noFill/>
          <a:ln w="15875">
            <a:solidFill>
              <a:srgbClr val="8A98A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94126" y="1389888"/>
            <a:ext cx="1276731" cy="2212848"/>
          </a:xfrm>
          <a:prstGeom prst="roundRect">
            <a:avLst>
              <a:gd name="adj" fmla="val 4297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94710" y="1508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394710" y="1755648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우선순위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394710" y="2020824"/>
            <a:ext cx="10938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Research Priority</a:t>
            </a:r>
            <a:endParaRPr lang="en-US" sz="650" dirty="0"/>
          </a:p>
        </p:txBody>
      </p:sp>
      <p:sp>
        <p:nvSpPr>
          <p:cNvPr id="20" name="Text 18"/>
          <p:cNvSpPr txBox="1"/>
          <p:nvPr/>
        </p:nvSpPr>
        <p:spPr>
          <a:xfrm>
            <a:off x="3394710" y="2194560"/>
            <a:ext cx="1093851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기대와 현실의 격차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 질문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격차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봐야 할 이유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84573" y="2496312"/>
            <a:ext cx="137160" cy="0"/>
          </a:xfrm>
          <a:prstGeom prst="line">
            <a:avLst/>
          </a:prstGeom>
          <a:noFill/>
          <a:ln w="15875">
            <a:solidFill>
              <a:srgbClr val="8A98A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35449" y="1389888"/>
            <a:ext cx="1276731" cy="2212848"/>
          </a:xfrm>
          <a:prstGeom prst="roundRect">
            <a:avLst>
              <a:gd name="adj" fmla="val 4297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36033" y="1508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836033" y="1755648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심층 조사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836033" y="2020824"/>
            <a:ext cx="10938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Research</a:t>
            </a:r>
            <a:endParaRPr lang="en-US" sz="650" dirty="0"/>
          </a:p>
        </p:txBody>
      </p:sp>
      <p:sp>
        <p:nvSpPr>
          <p:cNvPr id="26" name="Text 24"/>
          <p:cNvSpPr txBox="1"/>
          <p:nvPr/>
        </p:nvSpPr>
        <p:spPr>
          <a:xfrm>
            <a:off x="4836033" y="2194560"/>
            <a:ext cx="1093851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· 회계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해자 · 경쟁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25896" y="2496312"/>
            <a:ext cx="137160" cy="0"/>
          </a:xfrm>
          <a:prstGeom prst="line">
            <a:avLst/>
          </a:prstGeom>
          <a:noFill/>
          <a:ln w="15875">
            <a:solidFill>
              <a:srgbClr val="8A98A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176772" y="1389888"/>
            <a:ext cx="1276731" cy="2212848"/>
          </a:xfrm>
          <a:prstGeom prst="roundRect">
            <a:avLst>
              <a:gd name="adj" fmla="val 4297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77356" y="1508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277356" y="1755648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논거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277356" y="2020824"/>
            <a:ext cx="10938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Investment Case</a:t>
            </a:r>
            <a:endParaRPr lang="en-US" sz="650" dirty="0"/>
          </a:p>
        </p:txBody>
      </p:sp>
      <p:sp>
        <p:nvSpPr>
          <p:cNvPr id="32" name="Text 30"/>
          <p:cNvSpPr txBox="1"/>
          <p:nvPr/>
        </p:nvSpPr>
        <p:spPr>
          <a:xfrm>
            <a:off x="6277356" y="2194560"/>
            <a:ext cx="1093851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함의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가정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상충 근거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67219" y="2496312"/>
            <a:ext cx="137160" cy="0"/>
          </a:xfrm>
          <a:prstGeom prst="line">
            <a:avLst/>
          </a:prstGeom>
          <a:noFill/>
          <a:ln w="15875">
            <a:solidFill>
              <a:srgbClr val="8A98A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618095" y="1389888"/>
            <a:ext cx="1276731" cy="2212848"/>
          </a:xfrm>
          <a:prstGeom prst="roundRect">
            <a:avLst>
              <a:gd name="adj" fmla="val 4297"/>
            </a:avLst>
          </a:prstGeom>
          <a:solidFill>
            <a:srgbClr val="12395C"/>
          </a:solidFill>
          <a:ln w="12700">
            <a:solidFill>
              <a:srgbClr val="1239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18679" y="1508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FC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7718679" y="1755648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판단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718679" y="2020824"/>
            <a:ext cx="10938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FA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Decision</a:t>
            </a:r>
            <a:endParaRPr lang="en-US" sz="650" dirty="0"/>
          </a:p>
        </p:txBody>
      </p:sp>
      <p:sp>
        <p:nvSpPr>
          <p:cNvPr id="38" name="Text 36"/>
          <p:cNvSpPr txBox="1"/>
          <p:nvPr/>
        </p:nvSpPr>
        <p:spPr>
          <a:xfrm>
            <a:off x="7718679" y="2194560"/>
            <a:ext cx="1093851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C9DC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C9DC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C9DC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C9DC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조사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908542" y="2496312"/>
            <a:ext cx="137160" cy="0"/>
          </a:xfrm>
          <a:prstGeom prst="line">
            <a:avLst/>
          </a:prstGeom>
          <a:noFill/>
          <a:ln w="15875">
            <a:solidFill>
              <a:srgbClr val="8A98A5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059418" y="1389888"/>
            <a:ext cx="1276731" cy="2212848"/>
          </a:xfrm>
          <a:prstGeom prst="roundRect">
            <a:avLst>
              <a:gd name="adj" fmla="val 4297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60002" y="1508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2F7D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9160002" y="1755648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· 감시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160002" y="2020824"/>
            <a:ext cx="10938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Monitoring</a:t>
            </a:r>
            <a:endParaRPr lang="en-US" sz="650" dirty="0"/>
          </a:p>
        </p:txBody>
      </p:sp>
      <p:sp>
        <p:nvSpPr>
          <p:cNvPr id="44" name="Text 42"/>
          <p:cNvSpPr txBox="1"/>
          <p:nvPr/>
        </p:nvSpPr>
        <p:spPr>
          <a:xfrm>
            <a:off x="9160002" y="2194560"/>
            <a:ext cx="1093851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논거 연동 감시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지표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변화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0349865" y="2496312"/>
            <a:ext cx="137160" cy="0"/>
          </a:xfrm>
          <a:prstGeom prst="line">
            <a:avLst/>
          </a:prstGeom>
          <a:noFill/>
          <a:ln w="15875">
            <a:solidFill>
              <a:srgbClr val="8A98A5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500741" y="1389888"/>
            <a:ext cx="1276731" cy="2212848"/>
          </a:xfrm>
          <a:prstGeom prst="roundRect">
            <a:avLst>
              <a:gd name="adj" fmla="val 4297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601325" y="1508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2F7D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0601325" y="1755648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논거 변화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0601325" y="2020824"/>
            <a:ext cx="10938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Thesis Change</a:t>
            </a:r>
            <a:endParaRPr lang="en-US" sz="650" dirty="0"/>
          </a:p>
        </p:txBody>
      </p:sp>
      <p:sp>
        <p:nvSpPr>
          <p:cNvPr id="50" name="Text 48"/>
          <p:cNvSpPr txBox="1"/>
          <p:nvPr/>
        </p:nvSpPr>
        <p:spPr>
          <a:xfrm>
            <a:off x="10601325" y="2194560"/>
            <a:ext cx="1093851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논거 강화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논거 약화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 변경</a:t>
            </a:r>
            <a:endParaRPr lang="en-US" sz="8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반증조건 발동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7572375" y="3666744"/>
            <a:ext cx="13681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승인 필수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1139106" y="3602736"/>
            <a:ext cx="0" cy="493776"/>
          </a:xfrm>
          <a:prstGeom prst="line">
            <a:avLst/>
          </a:prstGeom>
          <a:noFill/>
          <a:ln w="19050">
            <a:solidFill>
              <a:srgbClr val="2F7D5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73815" y="3602736"/>
            <a:ext cx="0" cy="493776"/>
          </a:xfrm>
          <a:prstGeom prst="line">
            <a:avLst/>
          </a:prstGeom>
          <a:noFill/>
          <a:ln w="19050">
            <a:solidFill>
              <a:srgbClr val="2F7D5D"/>
            </a:solidFill>
            <a:prstDash val="solid"/>
            <a:headEnd type="triangle"/>
          </a:ln>
        </p:spPr>
      </p:sp>
      <p:sp>
        <p:nvSpPr>
          <p:cNvPr id="54" name="Shape 52"/>
          <p:cNvSpPr/>
          <p:nvPr/>
        </p:nvSpPr>
        <p:spPr>
          <a:xfrm>
            <a:off x="5373815" y="4096512"/>
            <a:ext cx="5765292" cy="0"/>
          </a:xfrm>
          <a:prstGeom prst="line">
            <a:avLst/>
          </a:prstGeom>
          <a:noFill/>
          <a:ln w="19050">
            <a:solidFill>
              <a:srgbClr val="2F7D5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113460" y="3959352"/>
            <a:ext cx="22860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7D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논거가 바뀌면 다시 조사한다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11480" y="4498848"/>
            <a:ext cx="11365992" cy="1426464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67512" y="46360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계층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2011680" y="46542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결과로 판단 체계 자체를 교정한다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67512" y="4974336"/>
            <a:ext cx="195133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67512" y="4974336"/>
            <a:ext cx="19513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검증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655418" y="5303520"/>
            <a:ext cx="201168" cy="0"/>
          </a:xfrm>
          <a:prstGeom prst="line">
            <a:avLst/>
          </a:prstGeom>
          <a:noFill/>
          <a:ln w="15875">
            <a:solidFill>
              <a:srgbClr val="8A98A5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2893162" y="4974336"/>
            <a:ext cx="195133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893162" y="4974336"/>
            <a:ext cx="19513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대 실제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881067" y="5303520"/>
            <a:ext cx="201168" cy="0"/>
          </a:xfrm>
          <a:prstGeom prst="line">
            <a:avLst/>
          </a:prstGeom>
          <a:noFill/>
          <a:ln w="15875">
            <a:solidFill>
              <a:srgbClr val="8A98A5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5118811" y="4974336"/>
            <a:ext cx="195133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118811" y="4974336"/>
            <a:ext cx="19513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귀속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106717" y="5303520"/>
            <a:ext cx="201168" cy="0"/>
          </a:xfrm>
          <a:prstGeom prst="line">
            <a:avLst/>
          </a:prstGeom>
          <a:noFill/>
          <a:ln w="15875">
            <a:solidFill>
              <a:srgbClr val="8A98A5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7344461" y="4974336"/>
            <a:ext cx="195133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344461" y="4974336"/>
            <a:ext cx="19513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 개선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9332366" y="5303520"/>
            <a:ext cx="201168" cy="0"/>
          </a:xfrm>
          <a:prstGeom prst="line">
            <a:avLst/>
          </a:prstGeom>
          <a:noFill/>
          <a:ln w="15875">
            <a:solidFill>
              <a:srgbClr val="8A98A5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9570110" y="4974336"/>
            <a:ext cx="195133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570110" y="4974336"/>
            <a:ext cx="19513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개선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932492" y="3602736"/>
            <a:ext cx="0" cy="896112"/>
          </a:xfrm>
          <a:prstGeom prst="line">
            <a:avLst/>
          </a:prstGeom>
          <a:noFill/>
          <a:ln w="19050">
            <a:solidFill>
              <a:srgbClr val="2E6FA3"/>
            </a:solidFill>
            <a:prstDash val="dash"/>
            <a:headEnd type="triangle"/>
          </a:ln>
        </p:spPr>
      </p:sp>
      <p:sp>
        <p:nvSpPr>
          <p:cNvPr id="74" name="Text 72"/>
          <p:cNvSpPr txBox="1"/>
          <p:nvPr/>
        </p:nvSpPr>
        <p:spPr>
          <a:xfrm>
            <a:off x="411480" y="6053328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IRS는 주가를 예측하거나 자동으로 매매하는 시스템이 아니다.  시장 변화에서 조사 가치가 높은 문제를 발견하고, 검증된 근거로 연구하며, 투자 논거를 기록하고 감시하다가, 실제 결과로 다시 학습하는 리서치 인프라다.</a:t>
            </a:r>
            <a:endParaRPr lang="en-US" sz="950" dirty="0"/>
          </a:p>
        </p:txBody>
      </p:sp>
      <p:sp>
        <p:nvSpPr>
          <p:cNvPr id="75" name="Text 73"/>
          <p:cNvSpPr txBox="1"/>
          <p:nvPr/>
        </p:nvSpPr>
        <p:spPr>
          <a:xfrm>
            <a:off x="41148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 · 투자 리서치 운영체계</a:t>
            </a:r>
            <a:endParaRPr lang="en-US" sz="800" dirty="0"/>
          </a:p>
        </p:txBody>
      </p:sp>
      <p:sp>
        <p:nvSpPr>
          <p:cNvPr id="76" name="Text 74"/>
          <p:cNvSpPr txBox="1"/>
          <p:nvPr/>
        </p:nvSpPr>
        <p:spPr>
          <a:xfrm>
            <a:off x="10680192" y="64465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65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엔진에서 투자 리서치 운영체계로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86384"/>
            <a:ext cx="11365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이미 운영되고 있고, 무엇이 아직 남아 있는가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115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IRS 기반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15968" y="1115568"/>
            <a:ext cx="1600200" cy="246888"/>
          </a:xfrm>
          <a:prstGeom prst="roundRect">
            <a:avLst>
              <a:gd name="adj" fmla="val 18519"/>
            </a:avLst>
          </a:prstGeom>
          <a:solidFill>
            <a:srgbClr val="0E7C86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15968" y="1115568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· 운영 중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6272784" y="1115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운영 계층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543032" y="1115568"/>
            <a:ext cx="1234440" cy="246888"/>
          </a:xfrm>
          <a:prstGeom prst="roundRect">
            <a:avLst>
              <a:gd name="adj" fmla="val 18519"/>
            </a:avLst>
          </a:prstGeom>
          <a:solidFill>
            <a:srgbClr val="8A98A5"/>
          </a:solidFill>
          <a:ln w="9525">
            <a:solidFill>
              <a:srgbClr val="8A98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43032" y="111556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대상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1481328"/>
            <a:ext cx="550468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696212"/>
            <a:ext cx="100584" cy="100584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15453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실행 체계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" y="17647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09:00 자동 기동 · 사람 개입 없이 완료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084832"/>
            <a:ext cx="550468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299716"/>
            <a:ext cx="100584" cy="100584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3816" y="21488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선별 파이프라인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" y="236829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유니버스 → SEC 원자료 검증 → 후보 선별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688336"/>
            <a:ext cx="550468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903220"/>
            <a:ext cx="100584" cy="100584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" y="275234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심층 스크리닝 스냅샷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" y="29718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일별 스냅샷 영속화 · 전일 대비 변화 비교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3291840"/>
            <a:ext cx="550468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506724"/>
            <a:ext cx="100584" cy="100584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3816" y="335584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관심종목 감시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" y="357530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스크리닝이 실패해도 감시는 독립적으로 유지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3895344"/>
            <a:ext cx="550468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4110228"/>
            <a:ext cx="100584" cy="100584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3816" y="395935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인프라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13816" y="41788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기준값 재현 · 데이터 무결성 · 기록 보호 · 회귀 테스트 917건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4498848"/>
            <a:ext cx="550468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4713732"/>
            <a:ext cx="100584" cy="100584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3816" y="45628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13816" y="47823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결과와 실패 사유를 이슈로 자동 게시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72784" y="1481328"/>
            <a:ext cx="5504688" cy="658368"/>
          </a:xfrm>
          <a:prstGeom prst="roundRect">
            <a:avLst>
              <a:gd name="adj" fmla="val 6944"/>
            </a:avLst>
          </a:prstGeom>
          <a:solidFill>
            <a:srgbClr val="F4F7FA"/>
          </a:solidFill>
          <a:ln w="12700">
            <a:solidFill>
              <a:srgbClr val="CBD5DF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6437376" y="15544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729984" y="1545336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 팩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729984" y="1755648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기업별 분석 결과를 하나의 감사 가능한 투자 논거로 통합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729984" y="1947672"/>
            <a:ext cx="4882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6B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미구축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72784" y="2212848"/>
            <a:ext cx="5504688" cy="658368"/>
          </a:xfrm>
          <a:prstGeom prst="roundRect">
            <a:avLst>
              <a:gd name="adj" fmla="val 6944"/>
            </a:avLst>
          </a:prstGeom>
          <a:solidFill>
            <a:srgbClr val="F4F7FA"/>
          </a:solidFill>
          <a:ln w="12700">
            <a:solidFill>
              <a:srgbClr val="CBD5DF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6437376" y="22860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729984" y="2276856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논거 데이터베이스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729984" y="2487168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논거 · 가정 · 촉매 · 반증조건 · 감시변수 · 재검토일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6729984" y="2679192"/>
            <a:ext cx="4882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6B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스키마는 코드에 존재 · 운영 기록 0건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272784" y="2944368"/>
            <a:ext cx="5504688" cy="658368"/>
          </a:xfrm>
          <a:prstGeom prst="roundRect">
            <a:avLst>
              <a:gd name="adj" fmla="val 6944"/>
            </a:avLst>
          </a:prstGeom>
          <a:solidFill>
            <a:srgbClr val="F4F7FA"/>
          </a:solidFill>
          <a:ln w="12700">
            <a:solidFill>
              <a:srgbClr val="CBD5DF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6437376" y="30175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729984" y="3008376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논거 변화 탐지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6729984" y="3218688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주가가 아니라 논거를 바꿀 수 있는 변화를 탐지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6729984" y="3410712"/>
            <a:ext cx="4882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6B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반증조건 스캔만 존재 · 판정은 사람이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272784" y="3675888"/>
            <a:ext cx="5504688" cy="658368"/>
          </a:xfrm>
          <a:prstGeom prst="roundRect">
            <a:avLst>
              <a:gd name="adj" fmla="val 6944"/>
            </a:avLst>
          </a:prstGeom>
          <a:solidFill>
            <a:srgbClr val="F4F7FA"/>
          </a:solidFill>
          <a:ln w="12700">
            <a:solidFill>
              <a:srgbClr val="CBD5DF"/>
            </a:solidFill>
            <a:prstDash val="dash"/>
          </a:ln>
        </p:spPr>
      </p:sp>
      <p:sp>
        <p:nvSpPr>
          <p:cNvPr id="50" name="Text 48"/>
          <p:cNvSpPr txBox="1"/>
          <p:nvPr/>
        </p:nvSpPr>
        <p:spPr>
          <a:xfrm>
            <a:off x="6437376" y="37490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729984" y="3739896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기록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729984" y="3950208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 / 관찰 / 제외 판단과 그 근거 · 가정 · 리스크 · 승인자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6729984" y="4142232"/>
            <a:ext cx="4882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6B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스키마는 코드에 존재 · 운영 기록 0건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72784" y="4407408"/>
            <a:ext cx="5504688" cy="658368"/>
          </a:xfrm>
          <a:prstGeom prst="roundRect">
            <a:avLst>
              <a:gd name="adj" fmla="val 6944"/>
            </a:avLst>
          </a:prstGeom>
          <a:solidFill>
            <a:srgbClr val="F4F7FA"/>
          </a:solidFill>
          <a:ln w="12700">
            <a:solidFill>
              <a:srgbClr val="CBD5DF"/>
            </a:solidFill>
            <a:prstDash val="dash"/>
          </a:ln>
        </p:spPr>
      </p:sp>
      <p:sp>
        <p:nvSpPr>
          <p:cNvPr id="55" name="Text 53"/>
          <p:cNvSpPr txBox="1"/>
          <p:nvPr/>
        </p:nvSpPr>
        <p:spPr>
          <a:xfrm>
            <a:off x="6437376" y="44805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6729984" y="4471416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검증과 학습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6729984" y="4681728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· 마진 · 산업 · 경영진 · 밸류에이션 · 데이터 오류로 분해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6729984" y="4873752"/>
            <a:ext cx="4882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6B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34건 동결 · 해소 0건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979676" y="530352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979676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기반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411980" y="5486400"/>
            <a:ext cx="438912" cy="0"/>
          </a:xfrm>
          <a:prstGeom prst="line">
            <a:avLst/>
          </a:prstGeom>
          <a:noFill/>
          <a:ln w="15875">
            <a:solidFill>
              <a:srgbClr val="8A98A5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905756" y="530352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905756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계층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338060" y="5486400"/>
            <a:ext cx="438912" cy="0"/>
          </a:xfrm>
          <a:prstGeom prst="line">
            <a:avLst/>
          </a:prstGeom>
          <a:noFill/>
          <a:ln w="15875">
            <a:solidFill>
              <a:srgbClr val="8A98A5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7831836" y="530352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12395C"/>
          </a:solidFill>
          <a:ln w="12700">
            <a:solidFill>
              <a:srgbClr val="12395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831836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투자 루프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11480" y="5870448"/>
            <a:ext cx="11365992" cy="512064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04088" y="5870448"/>
            <a:ext cx="10780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IRS는 견고한 분석 · 검증 기반을 갖추고 있다.  다음 단계는 지표를 더 늘리는 것이 아니라, 리서치 → 판단 → 감시 → 학습의 루프를 닫는 것이다.</a:t>
            </a:r>
            <a:endParaRPr lang="en-US" sz="1150" dirty="0"/>
          </a:p>
        </p:txBody>
      </p:sp>
      <p:sp>
        <p:nvSpPr>
          <p:cNvPr id="69" name="Text 67"/>
          <p:cNvSpPr txBox="1"/>
          <p:nvPr/>
        </p:nvSpPr>
        <p:spPr>
          <a:xfrm>
            <a:off x="41148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 · 투자 리서치 운영체계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10680192" y="64465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65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 실행 로드맵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86384"/>
            <a:ext cx="11365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분석을 더 얹기 전에 투자 루프를 먼저 닫는다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3715512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1481328"/>
            <a:ext cx="493776" cy="292608"/>
          </a:xfrm>
          <a:prstGeom prst="roundRect">
            <a:avLst>
              <a:gd name="adj" fmla="val 15625"/>
            </a:avLst>
          </a:prstGeom>
          <a:solidFill>
            <a:srgbClr val="12395C"/>
          </a:solidFill>
          <a:ln w="12700">
            <a:solidFill>
              <a:srgbClr val="1239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0936" y="148132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90472"/>
            <a:ext cx="2673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루프를 닫는다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55648"/>
            <a:ext cx="2673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최우선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9224" y="2121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3544" y="2121408"/>
            <a:ext cx="2965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 팩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9224" y="24140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23544" y="2414016"/>
            <a:ext cx="2965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논거 스키마 · 데이터베이스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" y="27066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" y="2706624"/>
            <a:ext cx="2965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관심종목과 논거 연결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" y="2999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" y="2999232"/>
            <a:ext cx="2965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논거 변화 탐지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" y="3291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" y="3291840"/>
            <a:ext cx="2965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판단 기록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" y="3730752"/>
            <a:ext cx="3276600" cy="475488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730752"/>
            <a:ext cx="3020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IRS를 실제 투자 업무에서 매일 쓰이게 만든다.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36720" y="1261872"/>
            <a:ext cx="3715512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56176" y="1481328"/>
            <a:ext cx="493776" cy="292608"/>
          </a:xfrm>
          <a:prstGeom prst="roundRect">
            <a:avLst>
              <a:gd name="adj" fmla="val 15625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56176" y="148132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059680" y="1490472"/>
            <a:ext cx="2673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시간으로 검증한다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059680" y="1755648"/>
            <a:ext cx="2673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다음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474464" y="2121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748784" y="2121408"/>
            <a:ext cx="2965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 고정 백테스트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474464" y="24140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748784" y="2414016"/>
            <a:ext cx="2965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원장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474464" y="27066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748784" y="2706624"/>
            <a:ext cx="2965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대 실제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474464" y="2999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748784" y="2999232"/>
            <a:ext cx="2965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귀속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474464" y="3291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748784" y="3291840"/>
            <a:ext cx="2965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검증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456176" y="3730752"/>
            <a:ext cx="3276600" cy="475488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84192" y="3730752"/>
            <a:ext cx="3020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과거에 무엇을 판단했고 실제로 어떻게 되었는지 측정한다.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61960" y="1261872"/>
            <a:ext cx="3715512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81416" y="1481328"/>
            <a:ext cx="493776" cy="292608"/>
          </a:xfrm>
          <a:prstGeom prst="roundRect">
            <a:avLst>
              <a:gd name="adj" fmla="val 15625"/>
            </a:avLst>
          </a:prstGeom>
          <a:solidFill>
            <a:srgbClr val="2F7D5D"/>
          </a:solidFill>
          <a:ln w="12700">
            <a:solidFill>
              <a:srgbClr val="2F7D5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81416" y="148132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884920" y="1490472"/>
            <a:ext cx="2673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분석을 심화한다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8884920" y="1755648"/>
            <a:ext cx="2673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D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· P1 이후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8299704" y="2121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8574024" y="2121408"/>
            <a:ext cx="2965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 품질 L2 · L3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299704" y="24140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8574024" y="2414016"/>
            <a:ext cx="2965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해자 정의와 측정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299704" y="27066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8574024" y="2706624"/>
            <a:ext cx="2965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국면 신호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8299704" y="2999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8574024" y="2999232"/>
            <a:ext cx="2965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 근거 계층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8299704" y="3291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8574024" y="3291840"/>
            <a:ext cx="2965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학술 · 계량 연구 반영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281416" y="3730752"/>
            <a:ext cx="3276600" cy="475488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409432" y="3730752"/>
            <a:ext cx="3020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만들어진 운영체계의 분석 품질을 지속적으로 높인다.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411480" y="45902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타협하지 않는 원칙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411480" y="4919472"/>
            <a:ext cx="19805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5138928"/>
            <a:ext cx="19805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날조 금지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데이터는 없는 것으로 기록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2757830" y="4919472"/>
            <a:ext cx="19805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2757830" y="5138928"/>
            <a:ext cx="19805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출처 우선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추적 가능성 확보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5104181" y="4919472"/>
            <a:ext cx="19805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5104181" y="5138928"/>
            <a:ext cx="19805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판정에 반영하기 전에 측정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본 뒤 임계값 조정 금지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7450531" y="4919472"/>
            <a:ext cx="19805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거버넌스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7450531" y="5138928"/>
            <a:ext cx="19805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승인 필수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매수 금지</a:t>
            </a:r>
            <a:endParaRPr lang="en-US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9796882" y="4919472"/>
            <a:ext cx="19805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9796882" y="5138928"/>
            <a:ext cx="19805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기준값 재현 테스트 · 불변 기록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556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추적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11480" y="5705856"/>
            <a:ext cx="11365992" cy="640080"/>
          </a:xfrm>
          <a:prstGeom prst="roundRect">
            <a:avLst>
              <a:gd name="adj" fmla="val 8571"/>
            </a:avLst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40664" y="5705856"/>
            <a:ext cx="1070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IRS의 최종 목표는 분석 기능을 더 많이 갖는 것이 아니다.  시장 변화를 지속적으로 관찰하고, 조사 가치가 높은 문제를 발견하고, 검증된 근거로 투자 판단을 지원하며, 투자 논거를 계속 감시하다가, 실제 결과를 통해 스스로의 판단 체계를 개선하는 지속적 투자 리서치 운영체계를 만드는 것이다.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41148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IRS · 투자 리서치 운영체계</a:t>
            </a:r>
            <a:endParaRPr lang="en-US" sz="800" dirty="0"/>
          </a:p>
        </p:txBody>
      </p:sp>
      <p:sp>
        <p:nvSpPr>
          <p:cNvPr id="69" name="Text 67"/>
          <p:cNvSpPr txBox="1"/>
          <p:nvPr/>
        </p:nvSpPr>
        <p:spPr>
          <a:xfrm>
            <a:off x="10680192" y="64465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IRS 투자 리서치 운영체계</dc:title>
  <dc:subject>PptxGenJS Presentation</dc:subject>
  <dc:creator>IRS</dc:creator>
  <cp:lastModifiedBy>IRS</cp:lastModifiedBy>
  <cp:revision>1</cp:revision>
  <dcterms:created xsi:type="dcterms:W3CDTF">2026-08-27T09:13:51Z</dcterms:created>
  <dcterms:modified xsi:type="dcterms:W3CDTF">2026-08-27T09:13:51Z</dcterms:modified>
</cp:coreProperties>
</file>