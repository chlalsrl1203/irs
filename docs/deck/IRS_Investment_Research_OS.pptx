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발견 → 조사 → 판단 → 감시 → 재평가 → 학습의 폐쇄형 루프. 06 HUMAN DECISION은 자동화되지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좌측은 실제로 매일 실행되는 것만. 우측의 상태 태그는 '코드는 있으나 운영 기록 0건'을 숨기지 않기 위한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P2를 먼저 하지 않는다 — 루프를 닫기 전에 분석 복잡도를 늘리면 쓰이지 않는 지표만 쌓인다.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11365992" cy="493776"/>
          </a:xfrm>
          <a:prstGeom prst="rect">
            <a:avLst/>
          </a:prstGeom>
          <a:noFill/>
          <a:ln/>
        </p:spPr>
        <p:txBody>
          <a:bodyPr wrap="square" lIns="0" tIns="0" rIns="0" bIns="0" rtlCol="0" anchor="ctr"/>
          <a:lstStyle/>
          <a:p>
            <a:pPr indent="0" marL="0">
              <a:buNone/>
            </a:pPr>
            <a:r>
              <a:rPr lang="en-US" sz="2500" b="1" dirty="0">
                <a:solidFill>
                  <a:srgbClr val="0B2239"/>
                </a:solidFill>
                <a:latin typeface="Cambria" pitchFamily="34" charset="0"/>
                <a:ea typeface="Cambria" pitchFamily="34" charset="-122"/>
                <a:cs typeface="Cambria" pitchFamily="34" charset="-120"/>
              </a:rPr>
              <a:t>IRS Investment Research OS</a:t>
            </a:r>
            <a:endParaRPr lang="en-US" sz="2500" dirty="0"/>
          </a:p>
        </p:txBody>
      </p:sp>
      <p:sp>
        <p:nvSpPr>
          <p:cNvPr id="3" name="Text 1"/>
          <p:cNvSpPr txBox="1"/>
          <p:nvPr/>
        </p:nvSpPr>
        <p:spPr>
          <a:xfrm>
            <a:off x="411480" y="768096"/>
            <a:ext cx="10424160" cy="27432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Continuous Investment Research  →  Decision  →  Monitoring  →  Learning</a:t>
            </a:r>
            <a:endParaRPr lang="en-US" sz="1200" dirty="0"/>
          </a:p>
        </p:txBody>
      </p:sp>
      <p:sp>
        <p:nvSpPr>
          <p:cNvPr id="4" name="Shape 2"/>
          <p:cNvSpPr/>
          <p:nvPr/>
        </p:nvSpPr>
        <p:spPr>
          <a:xfrm>
            <a:off x="411480" y="1444752"/>
            <a:ext cx="1276731" cy="2103120"/>
          </a:xfrm>
          <a:prstGeom prst="roundRect">
            <a:avLst>
              <a:gd name="adj" fmla="val 4297"/>
            </a:avLst>
          </a:prstGeom>
          <a:solidFill>
            <a:srgbClr val="FFFFFF"/>
          </a:solidFill>
          <a:ln w="12700">
            <a:solidFill>
              <a:srgbClr val="CBD5DF"/>
            </a:solidFill>
            <a:prstDash val="solid"/>
          </a:ln>
        </p:spPr>
      </p:sp>
      <p:sp>
        <p:nvSpPr>
          <p:cNvPr id="5" name="Text 3"/>
          <p:cNvSpPr txBox="1"/>
          <p:nvPr/>
        </p:nvSpPr>
        <p:spPr>
          <a:xfrm>
            <a:off x="502920" y="1554480"/>
            <a:ext cx="457200" cy="201168"/>
          </a:xfrm>
          <a:prstGeom prst="rect">
            <a:avLst/>
          </a:prstGeom>
          <a:noFill/>
          <a:ln/>
        </p:spPr>
        <p:txBody>
          <a:bodyPr wrap="square" lIns="0" tIns="0" rIns="0" bIns="0" rtlCol="0" anchor="ctr"/>
          <a:lstStyle/>
          <a:p>
            <a:pPr indent="0" marL="0">
              <a:buNone/>
            </a:pPr>
            <a:r>
              <a:rPr lang="en-US" sz="900" b="1" spc="80" kern="0" dirty="0">
                <a:solidFill>
                  <a:srgbClr val="2E6FA3"/>
                </a:solidFill>
                <a:latin typeface="Calibri" pitchFamily="34" charset="0"/>
                <a:ea typeface="Calibri" pitchFamily="34" charset="-122"/>
                <a:cs typeface="Calibri" pitchFamily="34" charset="-120"/>
              </a:rPr>
              <a:t>01</a:t>
            </a:r>
            <a:endParaRPr lang="en-US" sz="900" dirty="0"/>
          </a:p>
        </p:txBody>
      </p:sp>
      <p:sp>
        <p:nvSpPr>
          <p:cNvPr id="6" name="Text 4"/>
          <p:cNvSpPr txBox="1"/>
          <p:nvPr/>
        </p:nvSpPr>
        <p:spPr>
          <a:xfrm>
            <a:off x="502920"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MARKET</a:t>
            </a:r>
            <a:endParaRPr lang="en-US" sz="1000" dirty="0"/>
          </a:p>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&amp; DATA</a:t>
            </a:r>
            <a:endParaRPr lang="en-US" sz="1000" dirty="0"/>
          </a:p>
        </p:txBody>
      </p:sp>
      <p:sp>
        <p:nvSpPr>
          <p:cNvPr id="7" name="Text 5"/>
          <p:cNvSpPr txBox="1"/>
          <p:nvPr/>
        </p:nvSpPr>
        <p:spPr>
          <a:xfrm>
            <a:off x="502920"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Market data</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SEC filings</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Company disclosures</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News / external evidence</a:t>
            </a:r>
            <a:endParaRPr lang="en-US" sz="750" dirty="0"/>
          </a:p>
        </p:txBody>
      </p:sp>
      <p:sp>
        <p:nvSpPr>
          <p:cNvPr id="8" name="Shape 6"/>
          <p:cNvSpPr/>
          <p:nvPr/>
        </p:nvSpPr>
        <p:spPr>
          <a:xfrm>
            <a:off x="1701927" y="2496312"/>
            <a:ext cx="137160" cy="0"/>
          </a:xfrm>
          <a:prstGeom prst="line">
            <a:avLst/>
          </a:prstGeom>
          <a:noFill/>
          <a:ln w="15875">
            <a:solidFill>
              <a:srgbClr val="8494A3"/>
            </a:solidFill>
            <a:prstDash val="solid"/>
            <a:tailEnd type="triangle"/>
          </a:ln>
        </p:spPr>
      </p:sp>
      <p:sp>
        <p:nvSpPr>
          <p:cNvPr id="9" name="Shape 7"/>
          <p:cNvSpPr/>
          <p:nvPr/>
        </p:nvSpPr>
        <p:spPr>
          <a:xfrm>
            <a:off x="1852803" y="1444752"/>
            <a:ext cx="1276731" cy="2103120"/>
          </a:xfrm>
          <a:prstGeom prst="roundRect">
            <a:avLst>
              <a:gd name="adj" fmla="val 4297"/>
            </a:avLst>
          </a:prstGeom>
          <a:solidFill>
            <a:srgbClr val="FFFFFF"/>
          </a:solidFill>
          <a:ln w="12700">
            <a:solidFill>
              <a:srgbClr val="CBD5DF"/>
            </a:solidFill>
            <a:prstDash val="solid"/>
          </a:ln>
        </p:spPr>
      </p:sp>
      <p:sp>
        <p:nvSpPr>
          <p:cNvPr id="10" name="Text 8"/>
          <p:cNvSpPr txBox="1"/>
          <p:nvPr/>
        </p:nvSpPr>
        <p:spPr>
          <a:xfrm>
            <a:off x="1944243" y="1554480"/>
            <a:ext cx="457200" cy="201168"/>
          </a:xfrm>
          <a:prstGeom prst="rect">
            <a:avLst/>
          </a:prstGeom>
          <a:noFill/>
          <a:ln/>
        </p:spPr>
        <p:txBody>
          <a:bodyPr wrap="square" lIns="0" tIns="0" rIns="0" bIns="0" rtlCol="0" anchor="ctr"/>
          <a:lstStyle/>
          <a:p>
            <a:pPr indent="0" marL="0">
              <a:buNone/>
            </a:pPr>
            <a:r>
              <a:rPr lang="en-US" sz="900" b="1" spc="80" kern="0" dirty="0">
                <a:solidFill>
                  <a:srgbClr val="2E6FA3"/>
                </a:solidFill>
                <a:latin typeface="Calibri" pitchFamily="34" charset="0"/>
                <a:ea typeface="Calibri" pitchFamily="34" charset="-122"/>
                <a:cs typeface="Calibri" pitchFamily="34" charset="-120"/>
              </a:rPr>
              <a:t>02</a:t>
            </a:r>
            <a:endParaRPr lang="en-US" sz="900" dirty="0"/>
          </a:p>
        </p:txBody>
      </p:sp>
      <p:sp>
        <p:nvSpPr>
          <p:cNvPr id="11" name="Text 9"/>
          <p:cNvSpPr txBox="1"/>
          <p:nvPr/>
        </p:nvSpPr>
        <p:spPr>
          <a:xfrm>
            <a:off x="1944243"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DISCOVERY</a:t>
            </a:r>
            <a:endParaRPr lang="en-US" sz="1000" dirty="0"/>
          </a:p>
        </p:txBody>
      </p:sp>
      <p:sp>
        <p:nvSpPr>
          <p:cNvPr id="12" name="Text 10"/>
          <p:cNvSpPr txBox="1"/>
          <p:nvPr/>
        </p:nvSpPr>
        <p:spPr>
          <a:xfrm>
            <a:off x="1944243"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Daily screening</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Universe filtering</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Candidate identification</a:t>
            </a:r>
            <a:endParaRPr lang="en-US" sz="750" dirty="0"/>
          </a:p>
        </p:txBody>
      </p:sp>
      <p:sp>
        <p:nvSpPr>
          <p:cNvPr id="13" name="Shape 11"/>
          <p:cNvSpPr/>
          <p:nvPr/>
        </p:nvSpPr>
        <p:spPr>
          <a:xfrm>
            <a:off x="3143250" y="2496312"/>
            <a:ext cx="137160" cy="0"/>
          </a:xfrm>
          <a:prstGeom prst="line">
            <a:avLst/>
          </a:prstGeom>
          <a:noFill/>
          <a:ln w="15875">
            <a:solidFill>
              <a:srgbClr val="8494A3"/>
            </a:solidFill>
            <a:prstDash val="solid"/>
            <a:tailEnd type="triangle"/>
          </a:ln>
        </p:spPr>
      </p:sp>
      <p:sp>
        <p:nvSpPr>
          <p:cNvPr id="14" name="Shape 12"/>
          <p:cNvSpPr/>
          <p:nvPr/>
        </p:nvSpPr>
        <p:spPr>
          <a:xfrm>
            <a:off x="3294126" y="1444752"/>
            <a:ext cx="1276731" cy="2103120"/>
          </a:xfrm>
          <a:prstGeom prst="roundRect">
            <a:avLst>
              <a:gd name="adj" fmla="val 4297"/>
            </a:avLst>
          </a:prstGeom>
          <a:solidFill>
            <a:srgbClr val="FFFFFF"/>
          </a:solidFill>
          <a:ln w="12700">
            <a:solidFill>
              <a:srgbClr val="CBD5DF"/>
            </a:solidFill>
            <a:prstDash val="solid"/>
          </a:ln>
        </p:spPr>
      </p:sp>
      <p:sp>
        <p:nvSpPr>
          <p:cNvPr id="15" name="Text 13"/>
          <p:cNvSpPr txBox="1"/>
          <p:nvPr/>
        </p:nvSpPr>
        <p:spPr>
          <a:xfrm>
            <a:off x="3385566" y="1554480"/>
            <a:ext cx="457200" cy="201168"/>
          </a:xfrm>
          <a:prstGeom prst="rect">
            <a:avLst/>
          </a:prstGeom>
          <a:noFill/>
          <a:ln/>
        </p:spPr>
        <p:txBody>
          <a:bodyPr wrap="square" lIns="0" tIns="0" rIns="0" bIns="0" rtlCol="0" anchor="ctr"/>
          <a:lstStyle/>
          <a:p>
            <a:pPr indent="0" marL="0">
              <a:buNone/>
            </a:pPr>
            <a:r>
              <a:rPr lang="en-US" sz="900" b="1" spc="80" kern="0" dirty="0">
                <a:solidFill>
                  <a:srgbClr val="0E7C86"/>
                </a:solidFill>
                <a:latin typeface="Calibri" pitchFamily="34" charset="0"/>
                <a:ea typeface="Calibri" pitchFamily="34" charset="-122"/>
                <a:cs typeface="Calibri" pitchFamily="34" charset="-120"/>
              </a:rPr>
              <a:t>03</a:t>
            </a:r>
            <a:endParaRPr lang="en-US" sz="900" dirty="0"/>
          </a:p>
        </p:txBody>
      </p:sp>
      <p:sp>
        <p:nvSpPr>
          <p:cNvPr id="16" name="Text 14"/>
          <p:cNvSpPr txBox="1"/>
          <p:nvPr/>
        </p:nvSpPr>
        <p:spPr>
          <a:xfrm>
            <a:off x="3385566"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RESEARCH</a:t>
            </a:r>
            <a:endParaRPr lang="en-US" sz="1000" dirty="0"/>
          </a:p>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PRIORITY</a:t>
            </a:r>
            <a:endParaRPr lang="en-US" sz="1000" dirty="0"/>
          </a:p>
        </p:txBody>
      </p:sp>
      <p:sp>
        <p:nvSpPr>
          <p:cNvPr id="17" name="Text 15"/>
          <p:cNvSpPr txBox="1"/>
          <p:nvPr/>
        </p:nvSpPr>
        <p:spPr>
          <a:xfrm>
            <a:off x="3385566"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Expectation vs reality</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Research question</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Information gap</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Why now?</a:t>
            </a:r>
            <a:endParaRPr lang="en-US" sz="750" dirty="0"/>
          </a:p>
        </p:txBody>
      </p:sp>
      <p:sp>
        <p:nvSpPr>
          <p:cNvPr id="18" name="Shape 16"/>
          <p:cNvSpPr/>
          <p:nvPr/>
        </p:nvSpPr>
        <p:spPr>
          <a:xfrm>
            <a:off x="4584573" y="2496312"/>
            <a:ext cx="137160" cy="0"/>
          </a:xfrm>
          <a:prstGeom prst="line">
            <a:avLst/>
          </a:prstGeom>
          <a:noFill/>
          <a:ln w="15875">
            <a:solidFill>
              <a:srgbClr val="8494A3"/>
            </a:solidFill>
            <a:prstDash val="solid"/>
            <a:tailEnd type="triangle"/>
          </a:ln>
        </p:spPr>
      </p:sp>
      <p:sp>
        <p:nvSpPr>
          <p:cNvPr id="19" name="Shape 17"/>
          <p:cNvSpPr/>
          <p:nvPr/>
        </p:nvSpPr>
        <p:spPr>
          <a:xfrm>
            <a:off x="4735449" y="1444752"/>
            <a:ext cx="1276731" cy="2103120"/>
          </a:xfrm>
          <a:prstGeom prst="roundRect">
            <a:avLst>
              <a:gd name="adj" fmla="val 4297"/>
            </a:avLst>
          </a:prstGeom>
          <a:solidFill>
            <a:srgbClr val="FFFFFF"/>
          </a:solidFill>
          <a:ln w="12700">
            <a:solidFill>
              <a:srgbClr val="CBD5DF"/>
            </a:solidFill>
            <a:prstDash val="solid"/>
          </a:ln>
        </p:spPr>
      </p:sp>
      <p:sp>
        <p:nvSpPr>
          <p:cNvPr id="20" name="Text 18"/>
          <p:cNvSpPr txBox="1"/>
          <p:nvPr/>
        </p:nvSpPr>
        <p:spPr>
          <a:xfrm>
            <a:off x="4826889" y="1554480"/>
            <a:ext cx="457200" cy="201168"/>
          </a:xfrm>
          <a:prstGeom prst="rect">
            <a:avLst/>
          </a:prstGeom>
          <a:noFill/>
          <a:ln/>
        </p:spPr>
        <p:txBody>
          <a:bodyPr wrap="square" lIns="0" tIns="0" rIns="0" bIns="0" rtlCol="0" anchor="ctr"/>
          <a:lstStyle/>
          <a:p>
            <a:pPr indent="0" marL="0">
              <a:buNone/>
            </a:pPr>
            <a:r>
              <a:rPr lang="en-US" sz="900" b="1" spc="80" kern="0" dirty="0">
                <a:solidFill>
                  <a:srgbClr val="0E7C86"/>
                </a:solidFill>
                <a:latin typeface="Calibri" pitchFamily="34" charset="0"/>
                <a:ea typeface="Calibri" pitchFamily="34" charset="-122"/>
                <a:cs typeface="Calibri" pitchFamily="34" charset="-120"/>
              </a:rPr>
              <a:t>04</a:t>
            </a:r>
            <a:endParaRPr lang="en-US" sz="900" dirty="0"/>
          </a:p>
        </p:txBody>
      </p:sp>
      <p:sp>
        <p:nvSpPr>
          <p:cNvPr id="21" name="Text 19"/>
          <p:cNvSpPr txBox="1"/>
          <p:nvPr/>
        </p:nvSpPr>
        <p:spPr>
          <a:xfrm>
            <a:off x="4826889"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DEEP</a:t>
            </a:r>
            <a:endParaRPr lang="en-US" sz="1000" dirty="0"/>
          </a:p>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RESEARCH</a:t>
            </a:r>
            <a:endParaRPr lang="en-US" sz="1000" dirty="0"/>
          </a:p>
        </p:txBody>
      </p:sp>
      <p:sp>
        <p:nvSpPr>
          <p:cNvPr id="22" name="Text 20"/>
          <p:cNvSpPr txBox="1"/>
          <p:nvPr/>
        </p:nvSpPr>
        <p:spPr>
          <a:xfrm>
            <a:off x="4826889"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Financial / accounting</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Moat / competition</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Industry</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Management</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Valuation</a:t>
            </a:r>
            <a:endParaRPr lang="en-US" sz="750" dirty="0"/>
          </a:p>
        </p:txBody>
      </p:sp>
      <p:sp>
        <p:nvSpPr>
          <p:cNvPr id="23" name="Shape 21"/>
          <p:cNvSpPr/>
          <p:nvPr/>
        </p:nvSpPr>
        <p:spPr>
          <a:xfrm>
            <a:off x="6025896" y="2496312"/>
            <a:ext cx="137160" cy="0"/>
          </a:xfrm>
          <a:prstGeom prst="line">
            <a:avLst/>
          </a:prstGeom>
          <a:noFill/>
          <a:ln w="15875">
            <a:solidFill>
              <a:srgbClr val="8494A3"/>
            </a:solidFill>
            <a:prstDash val="solid"/>
            <a:tailEnd type="triangle"/>
          </a:ln>
        </p:spPr>
      </p:sp>
      <p:sp>
        <p:nvSpPr>
          <p:cNvPr id="24" name="Shape 22"/>
          <p:cNvSpPr/>
          <p:nvPr/>
        </p:nvSpPr>
        <p:spPr>
          <a:xfrm>
            <a:off x="6176772" y="1444752"/>
            <a:ext cx="1276731" cy="2103120"/>
          </a:xfrm>
          <a:prstGeom prst="roundRect">
            <a:avLst>
              <a:gd name="adj" fmla="val 4297"/>
            </a:avLst>
          </a:prstGeom>
          <a:solidFill>
            <a:srgbClr val="FFFFFF"/>
          </a:solidFill>
          <a:ln w="12700">
            <a:solidFill>
              <a:srgbClr val="CBD5DF"/>
            </a:solidFill>
            <a:prstDash val="solid"/>
          </a:ln>
        </p:spPr>
      </p:sp>
      <p:sp>
        <p:nvSpPr>
          <p:cNvPr id="25" name="Text 23"/>
          <p:cNvSpPr txBox="1"/>
          <p:nvPr/>
        </p:nvSpPr>
        <p:spPr>
          <a:xfrm>
            <a:off x="6268212" y="1554480"/>
            <a:ext cx="457200" cy="201168"/>
          </a:xfrm>
          <a:prstGeom prst="rect">
            <a:avLst/>
          </a:prstGeom>
          <a:noFill/>
          <a:ln/>
        </p:spPr>
        <p:txBody>
          <a:bodyPr wrap="square" lIns="0" tIns="0" rIns="0" bIns="0" rtlCol="0" anchor="ctr"/>
          <a:lstStyle/>
          <a:p>
            <a:pPr indent="0" marL="0">
              <a:buNone/>
            </a:pPr>
            <a:r>
              <a:rPr lang="en-US" sz="900" b="1" spc="80" kern="0" dirty="0">
                <a:solidFill>
                  <a:srgbClr val="0E7C86"/>
                </a:solidFill>
                <a:latin typeface="Calibri" pitchFamily="34" charset="0"/>
                <a:ea typeface="Calibri" pitchFamily="34" charset="-122"/>
                <a:cs typeface="Calibri" pitchFamily="34" charset="-120"/>
              </a:rPr>
              <a:t>05</a:t>
            </a:r>
            <a:endParaRPr lang="en-US" sz="900" dirty="0"/>
          </a:p>
        </p:txBody>
      </p:sp>
      <p:sp>
        <p:nvSpPr>
          <p:cNvPr id="26" name="Text 24"/>
          <p:cNvSpPr txBox="1"/>
          <p:nvPr/>
        </p:nvSpPr>
        <p:spPr>
          <a:xfrm>
            <a:off x="6268212"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INVESTMENT</a:t>
            </a:r>
            <a:endParaRPr lang="en-US" sz="1000" dirty="0"/>
          </a:p>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CASE</a:t>
            </a:r>
            <a:endParaRPr lang="en-US" sz="1000" dirty="0"/>
          </a:p>
        </p:txBody>
      </p:sp>
      <p:sp>
        <p:nvSpPr>
          <p:cNvPr id="27" name="Text 25"/>
          <p:cNvSpPr txBox="1"/>
          <p:nvPr/>
        </p:nvSpPr>
        <p:spPr>
          <a:xfrm>
            <a:off x="6268212"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Facts</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Interpretation</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Investment implication</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Key assumptions</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Contradictions</a:t>
            </a:r>
            <a:endParaRPr lang="en-US" sz="750" dirty="0"/>
          </a:p>
        </p:txBody>
      </p:sp>
      <p:sp>
        <p:nvSpPr>
          <p:cNvPr id="28" name="Shape 26"/>
          <p:cNvSpPr/>
          <p:nvPr/>
        </p:nvSpPr>
        <p:spPr>
          <a:xfrm>
            <a:off x="7467219" y="2496312"/>
            <a:ext cx="137160" cy="0"/>
          </a:xfrm>
          <a:prstGeom prst="line">
            <a:avLst/>
          </a:prstGeom>
          <a:noFill/>
          <a:ln w="15875">
            <a:solidFill>
              <a:srgbClr val="8494A3"/>
            </a:solidFill>
            <a:prstDash val="solid"/>
            <a:tailEnd type="triangle"/>
          </a:ln>
        </p:spPr>
      </p:sp>
      <p:sp>
        <p:nvSpPr>
          <p:cNvPr id="29" name="Shape 27"/>
          <p:cNvSpPr/>
          <p:nvPr/>
        </p:nvSpPr>
        <p:spPr>
          <a:xfrm>
            <a:off x="7618095" y="1444752"/>
            <a:ext cx="1276731" cy="2103120"/>
          </a:xfrm>
          <a:prstGeom prst="roundRect">
            <a:avLst>
              <a:gd name="adj" fmla="val 4297"/>
            </a:avLst>
          </a:prstGeom>
          <a:solidFill>
            <a:srgbClr val="12395C"/>
          </a:solidFill>
          <a:ln w="12700">
            <a:solidFill>
              <a:srgbClr val="12395C"/>
            </a:solidFill>
            <a:prstDash val="solid"/>
          </a:ln>
        </p:spPr>
      </p:sp>
      <p:sp>
        <p:nvSpPr>
          <p:cNvPr id="30" name="Text 28"/>
          <p:cNvSpPr txBox="1"/>
          <p:nvPr/>
        </p:nvSpPr>
        <p:spPr>
          <a:xfrm>
            <a:off x="7709535" y="1554480"/>
            <a:ext cx="457200" cy="201168"/>
          </a:xfrm>
          <a:prstGeom prst="rect">
            <a:avLst/>
          </a:prstGeom>
          <a:noFill/>
          <a:ln/>
        </p:spPr>
        <p:txBody>
          <a:bodyPr wrap="square" lIns="0" tIns="0" rIns="0" bIns="0" rtlCol="0" anchor="ctr"/>
          <a:lstStyle/>
          <a:p>
            <a:pPr indent="0" marL="0">
              <a:buNone/>
            </a:pPr>
            <a:r>
              <a:rPr lang="en-US" sz="900" b="1" spc="80" kern="0" dirty="0">
                <a:solidFill>
                  <a:srgbClr val="9FC3E0"/>
                </a:solidFill>
                <a:latin typeface="Calibri" pitchFamily="34" charset="0"/>
                <a:ea typeface="Calibri" pitchFamily="34" charset="-122"/>
                <a:cs typeface="Calibri" pitchFamily="34" charset="-120"/>
              </a:rPr>
              <a:t>06</a:t>
            </a:r>
            <a:endParaRPr lang="en-US" sz="900" dirty="0"/>
          </a:p>
        </p:txBody>
      </p:sp>
      <p:sp>
        <p:nvSpPr>
          <p:cNvPr id="31" name="Text 29"/>
          <p:cNvSpPr txBox="1"/>
          <p:nvPr/>
        </p:nvSpPr>
        <p:spPr>
          <a:xfrm>
            <a:off x="7709535"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FFFFFF"/>
                </a:solidFill>
                <a:latin typeface="Calibri" pitchFamily="34" charset="0"/>
                <a:ea typeface="Calibri" pitchFamily="34" charset="-122"/>
                <a:cs typeface="Calibri" pitchFamily="34" charset="-120"/>
              </a:rPr>
              <a:t>HUMAN</a:t>
            </a:r>
            <a:endParaRPr lang="en-US" sz="1000" dirty="0"/>
          </a:p>
          <a:p>
            <a:pPr indent="0" marL="0">
              <a:lnSpc>
                <a:spcPts val="1200"/>
              </a:lnSpc>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p:txBody>
      </p:sp>
      <p:sp>
        <p:nvSpPr>
          <p:cNvPr id="32" name="Text 30"/>
          <p:cNvSpPr txBox="1"/>
          <p:nvPr/>
        </p:nvSpPr>
        <p:spPr>
          <a:xfrm>
            <a:off x="7709535"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C9DCEC"/>
                </a:solidFill>
                <a:latin typeface="Calibri" pitchFamily="34" charset="0"/>
                <a:ea typeface="Calibri" pitchFamily="34" charset="-122"/>
                <a:cs typeface="Calibri" pitchFamily="34" charset="-120"/>
              </a:rPr>
              <a:t>BUY</a:t>
            </a:r>
            <a:endParaRPr lang="en-US" sz="750" dirty="0"/>
          </a:p>
          <a:p>
            <a:pPr indent="0" marL="0">
              <a:lnSpc>
                <a:spcPts val="1050"/>
              </a:lnSpc>
              <a:buNone/>
            </a:pPr>
            <a:r>
              <a:rPr lang="en-US" sz="750" dirty="0">
                <a:solidFill>
                  <a:srgbClr val="C9DCEC"/>
                </a:solidFill>
                <a:latin typeface="Calibri" pitchFamily="34" charset="0"/>
                <a:ea typeface="Calibri" pitchFamily="34" charset="-122"/>
                <a:cs typeface="Calibri" pitchFamily="34" charset="-120"/>
              </a:rPr>
              <a:t>WATCH</a:t>
            </a:r>
            <a:endParaRPr lang="en-US" sz="750" dirty="0"/>
          </a:p>
          <a:p>
            <a:pPr indent="0" marL="0">
              <a:lnSpc>
                <a:spcPts val="1050"/>
              </a:lnSpc>
              <a:buNone/>
            </a:pPr>
            <a:r>
              <a:rPr lang="en-US" sz="750" dirty="0">
                <a:solidFill>
                  <a:srgbClr val="C9DCEC"/>
                </a:solidFill>
                <a:latin typeface="Calibri" pitchFamily="34" charset="0"/>
                <a:ea typeface="Calibri" pitchFamily="34" charset="-122"/>
                <a:cs typeface="Calibri" pitchFamily="34" charset="-120"/>
              </a:rPr>
              <a:t>PASS</a:t>
            </a:r>
            <a:endParaRPr lang="en-US" sz="750" dirty="0"/>
          </a:p>
          <a:p>
            <a:pPr indent="0" marL="0">
              <a:lnSpc>
                <a:spcPts val="1050"/>
              </a:lnSpc>
              <a:buNone/>
            </a:pPr>
            <a:r>
              <a:rPr lang="en-US" sz="750" dirty="0">
                <a:solidFill>
                  <a:srgbClr val="C9DCEC"/>
                </a:solidFill>
                <a:latin typeface="Calibri" pitchFamily="34" charset="0"/>
                <a:ea typeface="Calibri" pitchFamily="34" charset="-122"/>
                <a:cs typeface="Calibri" pitchFamily="34" charset="-120"/>
              </a:rPr>
              <a:t>Research more</a:t>
            </a:r>
            <a:endParaRPr lang="en-US" sz="750" dirty="0"/>
          </a:p>
        </p:txBody>
      </p:sp>
      <p:sp>
        <p:nvSpPr>
          <p:cNvPr id="33" name="Shape 31"/>
          <p:cNvSpPr/>
          <p:nvPr/>
        </p:nvSpPr>
        <p:spPr>
          <a:xfrm>
            <a:off x="8908542" y="2496312"/>
            <a:ext cx="137160" cy="0"/>
          </a:xfrm>
          <a:prstGeom prst="line">
            <a:avLst/>
          </a:prstGeom>
          <a:noFill/>
          <a:ln w="15875">
            <a:solidFill>
              <a:srgbClr val="8494A3"/>
            </a:solidFill>
            <a:prstDash val="solid"/>
            <a:tailEnd type="triangle"/>
          </a:ln>
        </p:spPr>
      </p:sp>
      <p:sp>
        <p:nvSpPr>
          <p:cNvPr id="34" name="Shape 32"/>
          <p:cNvSpPr/>
          <p:nvPr/>
        </p:nvSpPr>
        <p:spPr>
          <a:xfrm>
            <a:off x="9059418" y="1444752"/>
            <a:ext cx="1276731" cy="2103120"/>
          </a:xfrm>
          <a:prstGeom prst="roundRect">
            <a:avLst>
              <a:gd name="adj" fmla="val 4297"/>
            </a:avLst>
          </a:prstGeom>
          <a:solidFill>
            <a:srgbClr val="FFFFFF"/>
          </a:solidFill>
          <a:ln w="12700">
            <a:solidFill>
              <a:srgbClr val="CBD5DF"/>
            </a:solidFill>
            <a:prstDash val="solid"/>
          </a:ln>
        </p:spPr>
      </p:sp>
      <p:sp>
        <p:nvSpPr>
          <p:cNvPr id="35" name="Text 33"/>
          <p:cNvSpPr txBox="1"/>
          <p:nvPr/>
        </p:nvSpPr>
        <p:spPr>
          <a:xfrm>
            <a:off x="9150858" y="1554480"/>
            <a:ext cx="457200" cy="201168"/>
          </a:xfrm>
          <a:prstGeom prst="rect">
            <a:avLst/>
          </a:prstGeom>
          <a:noFill/>
          <a:ln/>
        </p:spPr>
        <p:txBody>
          <a:bodyPr wrap="square" lIns="0" tIns="0" rIns="0" bIns="0" rtlCol="0" anchor="ctr"/>
          <a:lstStyle/>
          <a:p>
            <a:pPr indent="0" marL="0">
              <a:buNone/>
            </a:pPr>
            <a:r>
              <a:rPr lang="en-US" sz="900" b="1" spc="80" kern="0" dirty="0">
                <a:solidFill>
                  <a:srgbClr val="2F7D5D"/>
                </a:solidFill>
                <a:latin typeface="Calibri" pitchFamily="34" charset="0"/>
                <a:ea typeface="Calibri" pitchFamily="34" charset="-122"/>
                <a:cs typeface="Calibri" pitchFamily="34" charset="-120"/>
              </a:rPr>
              <a:t>07</a:t>
            </a:r>
            <a:endParaRPr lang="en-US" sz="900" dirty="0"/>
          </a:p>
        </p:txBody>
      </p:sp>
      <p:sp>
        <p:nvSpPr>
          <p:cNvPr id="36" name="Text 34"/>
          <p:cNvSpPr txBox="1"/>
          <p:nvPr/>
        </p:nvSpPr>
        <p:spPr>
          <a:xfrm>
            <a:off x="9150858"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WATCHLIST</a:t>
            </a:r>
            <a:endParaRPr lang="en-US" sz="1000" dirty="0"/>
          </a:p>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&amp; MONITORING</a:t>
            </a:r>
            <a:endParaRPr lang="en-US" sz="1000" dirty="0"/>
          </a:p>
        </p:txBody>
      </p:sp>
      <p:sp>
        <p:nvSpPr>
          <p:cNvPr id="37" name="Text 35"/>
          <p:cNvSpPr txBox="1"/>
          <p:nvPr/>
        </p:nvSpPr>
        <p:spPr>
          <a:xfrm>
            <a:off x="9150858"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Thesis-linked monitoring</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Filings</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KPIs</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Valuation</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Business changes</a:t>
            </a:r>
            <a:endParaRPr lang="en-US" sz="750" dirty="0"/>
          </a:p>
        </p:txBody>
      </p:sp>
      <p:sp>
        <p:nvSpPr>
          <p:cNvPr id="38" name="Shape 36"/>
          <p:cNvSpPr/>
          <p:nvPr/>
        </p:nvSpPr>
        <p:spPr>
          <a:xfrm>
            <a:off x="10349865" y="2496312"/>
            <a:ext cx="137160" cy="0"/>
          </a:xfrm>
          <a:prstGeom prst="line">
            <a:avLst/>
          </a:prstGeom>
          <a:noFill/>
          <a:ln w="15875">
            <a:solidFill>
              <a:srgbClr val="8494A3"/>
            </a:solidFill>
            <a:prstDash val="solid"/>
            <a:tailEnd type="triangle"/>
          </a:ln>
        </p:spPr>
      </p:sp>
      <p:sp>
        <p:nvSpPr>
          <p:cNvPr id="39" name="Shape 37"/>
          <p:cNvSpPr/>
          <p:nvPr/>
        </p:nvSpPr>
        <p:spPr>
          <a:xfrm>
            <a:off x="10500741" y="1444752"/>
            <a:ext cx="1276731" cy="2103120"/>
          </a:xfrm>
          <a:prstGeom prst="roundRect">
            <a:avLst>
              <a:gd name="adj" fmla="val 4297"/>
            </a:avLst>
          </a:prstGeom>
          <a:solidFill>
            <a:srgbClr val="FFFFFF"/>
          </a:solidFill>
          <a:ln w="12700">
            <a:solidFill>
              <a:srgbClr val="CBD5DF"/>
            </a:solidFill>
            <a:prstDash val="solid"/>
          </a:ln>
        </p:spPr>
      </p:sp>
      <p:sp>
        <p:nvSpPr>
          <p:cNvPr id="40" name="Text 38"/>
          <p:cNvSpPr txBox="1"/>
          <p:nvPr/>
        </p:nvSpPr>
        <p:spPr>
          <a:xfrm>
            <a:off x="10592181" y="1554480"/>
            <a:ext cx="457200" cy="201168"/>
          </a:xfrm>
          <a:prstGeom prst="rect">
            <a:avLst/>
          </a:prstGeom>
          <a:noFill/>
          <a:ln/>
        </p:spPr>
        <p:txBody>
          <a:bodyPr wrap="square" lIns="0" tIns="0" rIns="0" bIns="0" rtlCol="0" anchor="ctr"/>
          <a:lstStyle/>
          <a:p>
            <a:pPr indent="0" marL="0">
              <a:buNone/>
            </a:pPr>
            <a:r>
              <a:rPr lang="en-US" sz="900" b="1" spc="80" kern="0" dirty="0">
                <a:solidFill>
                  <a:srgbClr val="2F7D5D"/>
                </a:solidFill>
                <a:latin typeface="Calibri" pitchFamily="34" charset="0"/>
                <a:ea typeface="Calibri" pitchFamily="34" charset="-122"/>
                <a:cs typeface="Calibri" pitchFamily="34" charset="-120"/>
              </a:rPr>
              <a:t>08</a:t>
            </a:r>
            <a:endParaRPr lang="en-US" sz="900" dirty="0"/>
          </a:p>
        </p:txBody>
      </p:sp>
      <p:sp>
        <p:nvSpPr>
          <p:cNvPr id="41" name="Text 39"/>
          <p:cNvSpPr txBox="1"/>
          <p:nvPr/>
        </p:nvSpPr>
        <p:spPr>
          <a:xfrm>
            <a:off x="10592181" y="1810512"/>
            <a:ext cx="1093851" cy="512064"/>
          </a:xfrm>
          <a:prstGeom prst="rect">
            <a:avLst/>
          </a:prstGeom>
          <a:noFill/>
          <a:ln/>
        </p:spPr>
        <p:txBody>
          <a:bodyPr wrap="square" lIns="0" tIns="0" rIns="0" bIns="0" rtlCol="0" anchor="ctr"/>
          <a:lstStyle/>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THESIS</a:t>
            </a:r>
            <a:endParaRPr lang="en-US" sz="1000" dirty="0"/>
          </a:p>
          <a:p>
            <a:pPr indent="0" marL="0">
              <a:lnSpc>
                <a:spcPts val="1200"/>
              </a:lnSpc>
              <a:buNone/>
            </a:pPr>
            <a:r>
              <a:rPr lang="en-US" sz="1000" b="1" dirty="0">
                <a:solidFill>
                  <a:srgbClr val="0B2239"/>
                </a:solidFill>
                <a:latin typeface="Calibri" pitchFamily="34" charset="0"/>
                <a:ea typeface="Calibri" pitchFamily="34" charset="-122"/>
                <a:cs typeface="Calibri" pitchFamily="34" charset="-120"/>
              </a:rPr>
              <a:t>CHANGE</a:t>
            </a:r>
            <a:endParaRPr lang="en-US" sz="1000" dirty="0"/>
          </a:p>
        </p:txBody>
      </p:sp>
      <p:sp>
        <p:nvSpPr>
          <p:cNvPr id="42" name="Text 40"/>
          <p:cNvSpPr txBox="1"/>
          <p:nvPr/>
        </p:nvSpPr>
        <p:spPr>
          <a:xfrm>
            <a:off x="10592181" y="2377440"/>
            <a:ext cx="1112139" cy="1060704"/>
          </a:xfrm>
          <a:prstGeom prst="rect">
            <a:avLst/>
          </a:prstGeom>
          <a:noFill/>
          <a:ln/>
        </p:spPr>
        <p:txBody>
          <a:bodyPr wrap="square" lIns="0" tIns="0" rIns="0" bIns="0" rtlCol="0" anchor="ctr"/>
          <a:lstStyle/>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Strengthened</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Weakened</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Assumption changed</a:t>
            </a:r>
            <a:endParaRPr lang="en-US" sz="750" dirty="0"/>
          </a:p>
          <a:p>
            <a:pPr indent="0" marL="0">
              <a:lnSpc>
                <a:spcPts val="1050"/>
              </a:lnSpc>
              <a:buNone/>
            </a:pPr>
            <a:r>
              <a:rPr lang="en-US" sz="750" dirty="0">
                <a:solidFill>
                  <a:srgbClr val="5C6B7A"/>
                </a:solidFill>
                <a:latin typeface="Calibri" pitchFamily="34" charset="0"/>
                <a:ea typeface="Calibri" pitchFamily="34" charset="-122"/>
                <a:cs typeface="Calibri" pitchFamily="34" charset="-120"/>
              </a:rPr>
              <a:t>Invalidation trigger</a:t>
            </a:r>
            <a:endParaRPr lang="en-US" sz="750" dirty="0"/>
          </a:p>
        </p:txBody>
      </p:sp>
      <p:sp>
        <p:nvSpPr>
          <p:cNvPr id="43" name="Text 41"/>
          <p:cNvSpPr txBox="1"/>
          <p:nvPr/>
        </p:nvSpPr>
        <p:spPr>
          <a:xfrm>
            <a:off x="7599807" y="3602736"/>
            <a:ext cx="1313307" cy="182880"/>
          </a:xfrm>
          <a:prstGeom prst="rect">
            <a:avLst/>
          </a:prstGeom>
          <a:noFill/>
          <a:ln/>
        </p:spPr>
        <p:txBody>
          <a:bodyPr wrap="square" lIns="0" tIns="0" rIns="0" bIns="0" rtlCol="0" anchor="ctr"/>
          <a:lstStyle/>
          <a:p>
            <a:pPr algn="ctr" indent="0" marL="0">
              <a:buNone/>
            </a:pPr>
            <a:r>
              <a:rPr lang="en-US" sz="700" b="1" spc="40" kern="0" dirty="0">
                <a:solidFill>
                  <a:srgbClr val="12395C"/>
                </a:solidFill>
                <a:latin typeface="Calibri" pitchFamily="34" charset="0"/>
                <a:ea typeface="Calibri" pitchFamily="34" charset="-122"/>
                <a:cs typeface="Calibri" pitchFamily="34" charset="-120"/>
              </a:rPr>
              <a:t>HUMAN APPROVAL REQUIRED</a:t>
            </a:r>
            <a:endParaRPr lang="en-US" sz="700" dirty="0"/>
          </a:p>
        </p:txBody>
      </p:sp>
      <p:sp>
        <p:nvSpPr>
          <p:cNvPr id="44" name="Shape 42"/>
          <p:cNvSpPr/>
          <p:nvPr/>
        </p:nvSpPr>
        <p:spPr>
          <a:xfrm>
            <a:off x="11139106" y="3547872"/>
            <a:ext cx="0" cy="493776"/>
          </a:xfrm>
          <a:prstGeom prst="line">
            <a:avLst/>
          </a:prstGeom>
          <a:noFill/>
          <a:ln w="19050">
            <a:solidFill>
              <a:srgbClr val="2F7D5D"/>
            </a:solidFill>
            <a:prstDash val="solid"/>
          </a:ln>
        </p:spPr>
      </p:sp>
      <p:sp>
        <p:nvSpPr>
          <p:cNvPr id="45" name="Shape 43"/>
          <p:cNvSpPr/>
          <p:nvPr/>
        </p:nvSpPr>
        <p:spPr>
          <a:xfrm>
            <a:off x="5373815" y="4041648"/>
            <a:ext cx="5765292" cy="0"/>
          </a:xfrm>
          <a:prstGeom prst="line">
            <a:avLst/>
          </a:prstGeom>
          <a:noFill/>
          <a:ln w="19050">
            <a:solidFill>
              <a:srgbClr val="2F7D5D"/>
            </a:solidFill>
            <a:prstDash val="solid"/>
          </a:ln>
        </p:spPr>
      </p:sp>
      <p:sp>
        <p:nvSpPr>
          <p:cNvPr id="46" name="Shape 44"/>
          <p:cNvSpPr/>
          <p:nvPr/>
        </p:nvSpPr>
        <p:spPr>
          <a:xfrm>
            <a:off x="5373815" y="3547872"/>
            <a:ext cx="0" cy="493776"/>
          </a:xfrm>
          <a:prstGeom prst="line">
            <a:avLst/>
          </a:prstGeom>
          <a:noFill/>
          <a:ln w="19050">
            <a:solidFill>
              <a:srgbClr val="2F7D5D"/>
            </a:solidFill>
            <a:prstDash val="solid"/>
            <a:headEnd type="triangle"/>
          </a:ln>
        </p:spPr>
      </p:sp>
      <p:sp>
        <p:nvSpPr>
          <p:cNvPr id="47" name="Text 45"/>
          <p:cNvSpPr txBox="1"/>
          <p:nvPr/>
        </p:nvSpPr>
        <p:spPr>
          <a:xfrm>
            <a:off x="6425375" y="3913632"/>
            <a:ext cx="3662172" cy="256032"/>
          </a:xfrm>
          <a:prstGeom prst="rect">
            <a:avLst/>
          </a:prstGeom>
          <a:solidFill>
            <a:srgbClr val="FFFFFF"/>
          </a:solidFill>
          <a:ln/>
        </p:spPr>
        <p:txBody>
          <a:bodyPr wrap="square" lIns="0" tIns="0" rIns="0" bIns="0" rtlCol="0" anchor="ctr"/>
          <a:lstStyle/>
          <a:p>
            <a:pPr algn="ctr" indent="0" marL="0">
              <a:buNone/>
            </a:pPr>
            <a:r>
              <a:rPr lang="en-US" sz="900" b="1" spc="30" kern="0" dirty="0">
                <a:solidFill>
                  <a:srgbClr val="2F7D5D"/>
                </a:solidFill>
                <a:latin typeface="Calibri" pitchFamily="34" charset="0"/>
                <a:ea typeface="Calibri" pitchFamily="34" charset="-122"/>
                <a:cs typeface="Calibri" pitchFamily="34" charset="-120"/>
              </a:rPr>
              <a:t>THESIS CHANGE  →  RESEARCH AGAIN</a:t>
            </a:r>
            <a:endParaRPr lang="en-US" sz="900" dirty="0"/>
          </a:p>
        </p:txBody>
      </p:sp>
      <p:sp>
        <p:nvSpPr>
          <p:cNvPr id="48" name="Shape 46"/>
          <p:cNvSpPr/>
          <p:nvPr/>
        </p:nvSpPr>
        <p:spPr>
          <a:xfrm>
            <a:off x="411480" y="4443984"/>
            <a:ext cx="11365992" cy="1463040"/>
          </a:xfrm>
          <a:prstGeom prst="roundRect">
            <a:avLst>
              <a:gd name="adj" fmla="val 3750"/>
            </a:avLst>
          </a:prstGeom>
          <a:solidFill>
            <a:srgbClr val="F4F7FA"/>
          </a:solidFill>
          <a:ln w="12700">
            <a:solidFill>
              <a:srgbClr val="CBD5DF"/>
            </a:solidFill>
            <a:prstDash val="solid"/>
          </a:ln>
        </p:spPr>
      </p:sp>
      <p:sp>
        <p:nvSpPr>
          <p:cNvPr id="49" name="Text 47"/>
          <p:cNvSpPr txBox="1"/>
          <p:nvPr/>
        </p:nvSpPr>
        <p:spPr>
          <a:xfrm>
            <a:off x="667512" y="4572000"/>
            <a:ext cx="2743200" cy="219456"/>
          </a:xfrm>
          <a:prstGeom prst="rect">
            <a:avLst/>
          </a:prstGeom>
          <a:noFill/>
          <a:ln/>
        </p:spPr>
        <p:txBody>
          <a:bodyPr wrap="square" lIns="0" tIns="0" rIns="0" bIns="0" rtlCol="0" anchor="ctr"/>
          <a:lstStyle/>
          <a:p>
            <a:pPr indent="0" marL="0">
              <a:buNone/>
            </a:pPr>
            <a:r>
              <a:rPr lang="en-US" sz="900" b="1" spc="100" kern="0" dirty="0">
                <a:solidFill>
                  <a:srgbClr val="0B2239"/>
                </a:solidFill>
                <a:latin typeface="Calibri" pitchFamily="34" charset="0"/>
                <a:ea typeface="Calibri" pitchFamily="34" charset="-122"/>
                <a:cs typeface="Calibri" pitchFamily="34" charset="-120"/>
              </a:rPr>
              <a:t>LEARNING LAYER</a:t>
            </a:r>
            <a:endParaRPr lang="en-US" sz="900" dirty="0"/>
          </a:p>
        </p:txBody>
      </p:sp>
      <p:sp>
        <p:nvSpPr>
          <p:cNvPr id="50" name="Text 48"/>
          <p:cNvSpPr txBox="1"/>
          <p:nvPr/>
        </p:nvSpPr>
        <p:spPr>
          <a:xfrm>
            <a:off x="2514600" y="4572000"/>
            <a:ext cx="4206240" cy="219456"/>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실제 결과로 판단 체계 자체를 교정한다</a:t>
            </a:r>
            <a:endParaRPr lang="en-US" sz="900" dirty="0"/>
          </a:p>
        </p:txBody>
      </p:sp>
      <p:sp>
        <p:nvSpPr>
          <p:cNvPr id="51" name="Shape 49"/>
          <p:cNvSpPr/>
          <p:nvPr/>
        </p:nvSpPr>
        <p:spPr>
          <a:xfrm>
            <a:off x="667512" y="4901184"/>
            <a:ext cx="1951330" cy="676656"/>
          </a:xfrm>
          <a:prstGeom prst="roundRect">
            <a:avLst>
              <a:gd name="adj" fmla="val 6757"/>
            </a:avLst>
          </a:prstGeom>
          <a:solidFill>
            <a:srgbClr val="FFFFFF"/>
          </a:solidFill>
          <a:ln w="12700">
            <a:solidFill>
              <a:srgbClr val="CBD5DF"/>
            </a:solidFill>
            <a:prstDash val="solid"/>
          </a:ln>
        </p:spPr>
      </p:sp>
      <p:sp>
        <p:nvSpPr>
          <p:cNvPr id="52" name="Text 50"/>
          <p:cNvSpPr txBox="1"/>
          <p:nvPr/>
        </p:nvSpPr>
        <p:spPr>
          <a:xfrm>
            <a:off x="667512" y="4901184"/>
            <a:ext cx="1951330" cy="676656"/>
          </a:xfrm>
          <a:prstGeom prst="rect">
            <a:avLst/>
          </a:prstGeom>
          <a:noFill/>
          <a:ln/>
        </p:spPr>
        <p:txBody>
          <a:bodyPr wrap="square" lIns="0" tIns="0" rIns="0" bIns="0" rtlCol="0" anchor="ctr"/>
          <a:lstStyle/>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POST-MORTEM</a:t>
            </a:r>
            <a:endParaRPr lang="en-US" sz="900" dirty="0"/>
          </a:p>
        </p:txBody>
      </p:sp>
      <p:sp>
        <p:nvSpPr>
          <p:cNvPr id="53" name="Shape 51"/>
          <p:cNvSpPr/>
          <p:nvPr/>
        </p:nvSpPr>
        <p:spPr>
          <a:xfrm>
            <a:off x="2655418" y="5239512"/>
            <a:ext cx="201168" cy="0"/>
          </a:xfrm>
          <a:prstGeom prst="line">
            <a:avLst/>
          </a:prstGeom>
          <a:noFill/>
          <a:ln w="15875">
            <a:solidFill>
              <a:srgbClr val="8494A3"/>
            </a:solidFill>
            <a:prstDash val="solid"/>
            <a:tailEnd type="triangle"/>
          </a:ln>
        </p:spPr>
      </p:sp>
      <p:sp>
        <p:nvSpPr>
          <p:cNvPr id="54" name="Shape 52"/>
          <p:cNvSpPr/>
          <p:nvPr/>
        </p:nvSpPr>
        <p:spPr>
          <a:xfrm>
            <a:off x="2893162" y="4901184"/>
            <a:ext cx="1951330" cy="676656"/>
          </a:xfrm>
          <a:prstGeom prst="roundRect">
            <a:avLst>
              <a:gd name="adj" fmla="val 6757"/>
            </a:avLst>
          </a:prstGeom>
          <a:solidFill>
            <a:srgbClr val="FFFFFF"/>
          </a:solidFill>
          <a:ln w="12700">
            <a:solidFill>
              <a:srgbClr val="CBD5DF"/>
            </a:solidFill>
            <a:prstDash val="solid"/>
          </a:ln>
        </p:spPr>
      </p:sp>
      <p:sp>
        <p:nvSpPr>
          <p:cNvPr id="55" name="Text 53"/>
          <p:cNvSpPr txBox="1"/>
          <p:nvPr/>
        </p:nvSpPr>
        <p:spPr>
          <a:xfrm>
            <a:off x="2893162" y="4901184"/>
            <a:ext cx="1951330" cy="676656"/>
          </a:xfrm>
          <a:prstGeom prst="rect">
            <a:avLst/>
          </a:prstGeom>
          <a:noFill/>
          <a:ln/>
        </p:spPr>
        <p:txBody>
          <a:bodyPr wrap="square" lIns="0" tIns="0" rIns="0" bIns="0" rtlCol="0" anchor="ctr"/>
          <a:lstStyle/>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PREDICTION</a:t>
            </a:r>
            <a:endParaRPr lang="en-US" sz="900" dirty="0"/>
          </a:p>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vs OUTCOME</a:t>
            </a:r>
            <a:endParaRPr lang="en-US" sz="900" dirty="0"/>
          </a:p>
        </p:txBody>
      </p:sp>
      <p:sp>
        <p:nvSpPr>
          <p:cNvPr id="56" name="Shape 54"/>
          <p:cNvSpPr/>
          <p:nvPr/>
        </p:nvSpPr>
        <p:spPr>
          <a:xfrm>
            <a:off x="4881067" y="5239512"/>
            <a:ext cx="201168" cy="0"/>
          </a:xfrm>
          <a:prstGeom prst="line">
            <a:avLst/>
          </a:prstGeom>
          <a:noFill/>
          <a:ln w="15875">
            <a:solidFill>
              <a:srgbClr val="8494A3"/>
            </a:solidFill>
            <a:prstDash val="solid"/>
            <a:tailEnd type="triangle"/>
          </a:ln>
        </p:spPr>
      </p:sp>
      <p:sp>
        <p:nvSpPr>
          <p:cNvPr id="57" name="Shape 55"/>
          <p:cNvSpPr/>
          <p:nvPr/>
        </p:nvSpPr>
        <p:spPr>
          <a:xfrm>
            <a:off x="5118811" y="4901184"/>
            <a:ext cx="1951330" cy="676656"/>
          </a:xfrm>
          <a:prstGeom prst="roundRect">
            <a:avLst>
              <a:gd name="adj" fmla="val 6757"/>
            </a:avLst>
          </a:prstGeom>
          <a:solidFill>
            <a:srgbClr val="FFFFFF"/>
          </a:solidFill>
          <a:ln w="12700">
            <a:solidFill>
              <a:srgbClr val="CBD5DF"/>
            </a:solidFill>
            <a:prstDash val="solid"/>
          </a:ln>
        </p:spPr>
      </p:sp>
      <p:sp>
        <p:nvSpPr>
          <p:cNvPr id="58" name="Text 56"/>
          <p:cNvSpPr txBox="1"/>
          <p:nvPr/>
        </p:nvSpPr>
        <p:spPr>
          <a:xfrm>
            <a:off x="5118811" y="4901184"/>
            <a:ext cx="1951330" cy="676656"/>
          </a:xfrm>
          <a:prstGeom prst="rect">
            <a:avLst/>
          </a:prstGeom>
          <a:noFill/>
          <a:ln/>
        </p:spPr>
        <p:txBody>
          <a:bodyPr wrap="square" lIns="0" tIns="0" rIns="0" bIns="0" rtlCol="0" anchor="ctr"/>
          <a:lstStyle/>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ERROR</a:t>
            </a:r>
            <a:endParaRPr lang="en-US" sz="900" dirty="0"/>
          </a:p>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ATTRIBUTION</a:t>
            </a:r>
            <a:endParaRPr lang="en-US" sz="900" dirty="0"/>
          </a:p>
        </p:txBody>
      </p:sp>
      <p:sp>
        <p:nvSpPr>
          <p:cNvPr id="59" name="Shape 57"/>
          <p:cNvSpPr/>
          <p:nvPr/>
        </p:nvSpPr>
        <p:spPr>
          <a:xfrm>
            <a:off x="7106717" y="5239512"/>
            <a:ext cx="201168" cy="0"/>
          </a:xfrm>
          <a:prstGeom prst="line">
            <a:avLst/>
          </a:prstGeom>
          <a:noFill/>
          <a:ln w="15875">
            <a:solidFill>
              <a:srgbClr val="8494A3"/>
            </a:solidFill>
            <a:prstDash val="solid"/>
            <a:tailEnd type="triangle"/>
          </a:ln>
        </p:spPr>
      </p:sp>
      <p:sp>
        <p:nvSpPr>
          <p:cNvPr id="60" name="Shape 58"/>
          <p:cNvSpPr/>
          <p:nvPr/>
        </p:nvSpPr>
        <p:spPr>
          <a:xfrm>
            <a:off x="7344461" y="4901184"/>
            <a:ext cx="1951330" cy="676656"/>
          </a:xfrm>
          <a:prstGeom prst="roundRect">
            <a:avLst>
              <a:gd name="adj" fmla="val 6757"/>
            </a:avLst>
          </a:prstGeom>
          <a:solidFill>
            <a:srgbClr val="FFFFFF"/>
          </a:solidFill>
          <a:ln w="12700">
            <a:solidFill>
              <a:srgbClr val="CBD5DF"/>
            </a:solidFill>
            <a:prstDash val="solid"/>
          </a:ln>
        </p:spPr>
      </p:sp>
      <p:sp>
        <p:nvSpPr>
          <p:cNvPr id="61" name="Text 59"/>
          <p:cNvSpPr txBox="1"/>
          <p:nvPr/>
        </p:nvSpPr>
        <p:spPr>
          <a:xfrm>
            <a:off x="7344461" y="4901184"/>
            <a:ext cx="1951330" cy="676656"/>
          </a:xfrm>
          <a:prstGeom prst="rect">
            <a:avLst/>
          </a:prstGeom>
          <a:noFill/>
          <a:ln/>
        </p:spPr>
        <p:txBody>
          <a:bodyPr wrap="square" lIns="0" tIns="0" rIns="0" bIns="0" rtlCol="0" anchor="ctr"/>
          <a:lstStyle/>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PROCESS</a:t>
            </a:r>
            <a:endParaRPr lang="en-US" sz="900" dirty="0"/>
          </a:p>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IMPROVEMENT</a:t>
            </a:r>
            <a:endParaRPr lang="en-US" sz="900" dirty="0"/>
          </a:p>
        </p:txBody>
      </p:sp>
      <p:sp>
        <p:nvSpPr>
          <p:cNvPr id="62" name="Shape 60"/>
          <p:cNvSpPr/>
          <p:nvPr/>
        </p:nvSpPr>
        <p:spPr>
          <a:xfrm>
            <a:off x="9332366" y="5239512"/>
            <a:ext cx="201168" cy="0"/>
          </a:xfrm>
          <a:prstGeom prst="line">
            <a:avLst/>
          </a:prstGeom>
          <a:noFill/>
          <a:ln w="15875">
            <a:solidFill>
              <a:srgbClr val="8494A3"/>
            </a:solidFill>
            <a:prstDash val="solid"/>
            <a:tailEnd type="triangle"/>
          </a:ln>
        </p:spPr>
      </p:sp>
      <p:sp>
        <p:nvSpPr>
          <p:cNvPr id="63" name="Shape 61"/>
          <p:cNvSpPr/>
          <p:nvPr/>
        </p:nvSpPr>
        <p:spPr>
          <a:xfrm>
            <a:off x="9570110" y="4901184"/>
            <a:ext cx="1951330" cy="676656"/>
          </a:xfrm>
          <a:prstGeom prst="roundRect">
            <a:avLst>
              <a:gd name="adj" fmla="val 6757"/>
            </a:avLst>
          </a:prstGeom>
          <a:solidFill>
            <a:srgbClr val="FFFFFF"/>
          </a:solidFill>
          <a:ln w="12700">
            <a:solidFill>
              <a:srgbClr val="CBD5DF"/>
            </a:solidFill>
            <a:prstDash val="solid"/>
          </a:ln>
        </p:spPr>
      </p:sp>
      <p:sp>
        <p:nvSpPr>
          <p:cNvPr id="64" name="Text 62"/>
          <p:cNvSpPr txBox="1"/>
          <p:nvPr/>
        </p:nvSpPr>
        <p:spPr>
          <a:xfrm>
            <a:off x="9570110" y="4901184"/>
            <a:ext cx="1951330" cy="676656"/>
          </a:xfrm>
          <a:prstGeom prst="rect">
            <a:avLst/>
          </a:prstGeom>
          <a:noFill/>
          <a:ln/>
        </p:spPr>
        <p:txBody>
          <a:bodyPr wrap="square" lIns="0" tIns="0" rIns="0" bIns="0" rtlCol="0" anchor="ctr"/>
          <a:lstStyle/>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IRS</a:t>
            </a:r>
            <a:endParaRPr lang="en-US" sz="900" dirty="0"/>
          </a:p>
          <a:p>
            <a:pPr algn="ctr" indent="0" marL="0">
              <a:lnSpc>
                <a:spcPts val="1100"/>
              </a:lnSpc>
              <a:buNone/>
            </a:pPr>
            <a:r>
              <a:rPr lang="en-US" sz="900" b="1" dirty="0">
                <a:solidFill>
                  <a:srgbClr val="12395C"/>
                </a:solidFill>
                <a:latin typeface="Calibri" pitchFamily="34" charset="0"/>
                <a:ea typeface="Calibri" pitchFamily="34" charset="-122"/>
                <a:cs typeface="Calibri" pitchFamily="34" charset="-120"/>
              </a:rPr>
              <a:t>IMPROVEMENT</a:t>
            </a:r>
            <a:endParaRPr lang="en-US" sz="900" dirty="0"/>
          </a:p>
        </p:txBody>
      </p:sp>
      <p:sp>
        <p:nvSpPr>
          <p:cNvPr id="65" name="Shape 63"/>
          <p:cNvSpPr/>
          <p:nvPr/>
        </p:nvSpPr>
        <p:spPr>
          <a:xfrm>
            <a:off x="3932492" y="3547872"/>
            <a:ext cx="0" cy="896112"/>
          </a:xfrm>
          <a:prstGeom prst="line">
            <a:avLst/>
          </a:prstGeom>
          <a:noFill/>
          <a:ln w="19050">
            <a:solidFill>
              <a:srgbClr val="2E6FA3"/>
            </a:solidFill>
            <a:prstDash val="dash"/>
            <a:headEnd type="triangle"/>
          </a:ln>
        </p:spPr>
      </p:sp>
      <p:sp>
        <p:nvSpPr>
          <p:cNvPr id="66" name="Text 64"/>
          <p:cNvSpPr txBox="1"/>
          <p:nvPr/>
        </p:nvSpPr>
        <p:spPr>
          <a:xfrm>
            <a:off x="411480" y="6053328"/>
            <a:ext cx="11365992" cy="310896"/>
          </a:xfrm>
          <a:prstGeom prst="rect">
            <a:avLst/>
          </a:prstGeom>
          <a:noFill/>
          <a:ln/>
        </p:spPr>
        <p:txBody>
          <a:bodyPr wrap="square" lIns="0" tIns="0" rIns="0" bIns="0" rtlCol="0" anchor="ctr"/>
          <a:lstStyle/>
          <a:p>
            <a:pPr indent="0" marL="0">
              <a:buNone/>
            </a:pPr>
            <a:r>
              <a:rPr lang="en-US" sz="950" i="1" dirty="0">
                <a:solidFill>
                  <a:srgbClr val="5C6B7A"/>
                </a:solidFill>
                <a:latin typeface="Calibri" pitchFamily="34" charset="0"/>
                <a:ea typeface="Calibri" pitchFamily="34" charset="-122"/>
                <a:cs typeface="Calibri" pitchFamily="34" charset="-120"/>
              </a:rPr>
              <a:t>IRS는 주가를 예측하거나 자동매매하는 시스템이 아니다 — 시장 변화에서 조사 가치가 높은 문제를 발견하고, 검증된 근거로 연구하고, Thesis를 기록·감시하며, 실제 결과로 다시 학습하는 연구 인프라다.</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11365992" cy="493776"/>
          </a:xfrm>
          <a:prstGeom prst="rect">
            <a:avLst/>
          </a:prstGeom>
          <a:noFill/>
          <a:ln/>
        </p:spPr>
        <p:txBody>
          <a:bodyPr wrap="square" lIns="0" tIns="0" rIns="0" bIns="0" rtlCol="0" anchor="ctr"/>
          <a:lstStyle/>
          <a:p>
            <a:pPr indent="0" marL="0">
              <a:buNone/>
            </a:pPr>
            <a:r>
              <a:rPr lang="en-US" sz="2500" b="1" dirty="0">
                <a:solidFill>
                  <a:srgbClr val="0B2239"/>
                </a:solidFill>
                <a:latin typeface="Cambria" pitchFamily="34" charset="0"/>
                <a:ea typeface="Cambria" pitchFamily="34" charset="-122"/>
                <a:cs typeface="Cambria" pitchFamily="34" charset="-120"/>
              </a:rPr>
              <a:t>From Analytical Engine to Investment Research OS</a:t>
            </a:r>
            <a:endParaRPr lang="en-US" sz="2500" dirty="0"/>
          </a:p>
        </p:txBody>
      </p:sp>
      <p:sp>
        <p:nvSpPr>
          <p:cNvPr id="3" name="Text 1"/>
          <p:cNvSpPr txBox="1"/>
          <p:nvPr/>
        </p:nvSpPr>
        <p:spPr>
          <a:xfrm>
            <a:off x="411480" y="768096"/>
            <a:ext cx="10424160" cy="27432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무엇이 이미 돌아가고 있고, 무엇이 아직 운영 계층으로 남아 있는가</a:t>
            </a:r>
            <a:endParaRPr lang="en-US" sz="1200" dirty="0"/>
          </a:p>
        </p:txBody>
      </p:sp>
      <p:sp>
        <p:nvSpPr>
          <p:cNvPr id="4" name="Text 2"/>
          <p:cNvSpPr txBox="1"/>
          <p:nvPr/>
        </p:nvSpPr>
        <p:spPr>
          <a:xfrm>
            <a:off x="411480" y="1115568"/>
            <a:ext cx="3429000" cy="237744"/>
          </a:xfrm>
          <a:prstGeom prst="rect">
            <a:avLst/>
          </a:prstGeom>
          <a:noFill/>
          <a:ln/>
        </p:spPr>
        <p:txBody>
          <a:bodyPr wrap="square" lIns="0" tIns="0" rIns="0" bIns="0" rtlCol="0" anchor="ctr"/>
          <a:lstStyle/>
          <a:p>
            <a:pPr indent="0" marL="0">
              <a:buNone/>
            </a:pPr>
            <a:r>
              <a:rPr lang="en-US" sz="1200" b="1" spc="60" kern="0" dirty="0">
                <a:solidFill>
                  <a:srgbClr val="0B2239"/>
                </a:solidFill>
                <a:latin typeface="Calibri" pitchFamily="34" charset="0"/>
                <a:ea typeface="Calibri" pitchFamily="34" charset="-122"/>
                <a:cs typeface="Calibri" pitchFamily="34" charset="-120"/>
              </a:rPr>
              <a:t>CURRENT IRS FOUNDATION</a:t>
            </a:r>
            <a:endParaRPr lang="en-US" sz="1200" dirty="0"/>
          </a:p>
        </p:txBody>
      </p:sp>
      <p:sp>
        <p:nvSpPr>
          <p:cNvPr id="5" name="Shape 3"/>
          <p:cNvSpPr/>
          <p:nvPr/>
        </p:nvSpPr>
        <p:spPr>
          <a:xfrm>
            <a:off x="3950208" y="1115568"/>
            <a:ext cx="1965960" cy="237744"/>
          </a:xfrm>
          <a:prstGeom prst="roundRect">
            <a:avLst>
              <a:gd name="adj" fmla="val 19231"/>
            </a:avLst>
          </a:prstGeom>
          <a:solidFill>
            <a:srgbClr val="0E7C86"/>
          </a:solidFill>
          <a:ln w="9525">
            <a:solidFill>
              <a:srgbClr val="0E7C86"/>
            </a:solidFill>
            <a:prstDash val="solid"/>
          </a:ln>
        </p:spPr>
      </p:sp>
      <p:sp>
        <p:nvSpPr>
          <p:cNvPr id="6" name="Text 4"/>
          <p:cNvSpPr txBox="1"/>
          <p:nvPr/>
        </p:nvSpPr>
        <p:spPr>
          <a:xfrm>
            <a:off x="3950208" y="1115568"/>
            <a:ext cx="1965960" cy="237744"/>
          </a:xfrm>
          <a:prstGeom prst="rect">
            <a:avLst/>
          </a:prstGeom>
          <a:noFill/>
          <a:ln/>
        </p:spPr>
        <p:txBody>
          <a:bodyPr wrap="square" lIns="0" tIns="0" rIns="0" bIns="0" rtlCol="0" anchor="ctr"/>
          <a:lstStyle/>
          <a:p>
            <a:pPr algn="ctr" indent="0" marL="0">
              <a:buNone/>
            </a:pPr>
            <a:r>
              <a:rPr lang="en-US" sz="750" b="1" spc="40" kern="0" dirty="0">
                <a:solidFill>
                  <a:srgbClr val="FFFFFF"/>
                </a:solidFill>
                <a:latin typeface="Calibri" pitchFamily="34" charset="0"/>
                <a:ea typeface="Calibri" pitchFamily="34" charset="-122"/>
                <a:cs typeface="Calibri" pitchFamily="34" charset="-120"/>
              </a:rPr>
              <a:t>IMPLEMENTED &amp; RUNNING</a:t>
            </a:r>
            <a:endParaRPr lang="en-US" sz="750" dirty="0"/>
          </a:p>
        </p:txBody>
      </p:sp>
      <p:sp>
        <p:nvSpPr>
          <p:cNvPr id="7" name="Text 5"/>
          <p:cNvSpPr txBox="1"/>
          <p:nvPr/>
        </p:nvSpPr>
        <p:spPr>
          <a:xfrm>
            <a:off x="6272784" y="1115568"/>
            <a:ext cx="4206240" cy="237744"/>
          </a:xfrm>
          <a:prstGeom prst="rect">
            <a:avLst/>
          </a:prstGeom>
          <a:noFill/>
          <a:ln/>
        </p:spPr>
        <p:txBody>
          <a:bodyPr wrap="square" lIns="0" tIns="0" rIns="0" bIns="0" rtlCol="0" anchor="ctr"/>
          <a:lstStyle/>
          <a:p>
            <a:pPr indent="0" marL="0">
              <a:buNone/>
            </a:pPr>
            <a:r>
              <a:rPr lang="en-US" sz="1200" b="1" spc="60" kern="0" dirty="0">
                <a:solidFill>
                  <a:srgbClr val="0B2239"/>
                </a:solidFill>
                <a:latin typeface="Calibri" pitchFamily="34" charset="0"/>
                <a:ea typeface="Calibri" pitchFamily="34" charset="-122"/>
                <a:cs typeface="Calibri" pitchFamily="34" charset="-120"/>
              </a:rPr>
              <a:t>TARGET INVESTMENT RESEARCH OS</a:t>
            </a:r>
            <a:endParaRPr lang="en-US" sz="1200" dirty="0"/>
          </a:p>
        </p:txBody>
      </p:sp>
      <p:sp>
        <p:nvSpPr>
          <p:cNvPr id="8" name="Shape 6"/>
          <p:cNvSpPr/>
          <p:nvPr/>
        </p:nvSpPr>
        <p:spPr>
          <a:xfrm>
            <a:off x="10588752" y="1115568"/>
            <a:ext cx="1188720" cy="237744"/>
          </a:xfrm>
          <a:prstGeom prst="roundRect">
            <a:avLst>
              <a:gd name="adj" fmla="val 19231"/>
            </a:avLst>
          </a:prstGeom>
          <a:solidFill>
            <a:srgbClr val="8494A3"/>
          </a:solidFill>
          <a:ln w="9525">
            <a:solidFill>
              <a:srgbClr val="8494A3"/>
            </a:solidFill>
            <a:prstDash val="solid"/>
          </a:ln>
        </p:spPr>
      </p:sp>
      <p:sp>
        <p:nvSpPr>
          <p:cNvPr id="9" name="Text 7"/>
          <p:cNvSpPr txBox="1"/>
          <p:nvPr/>
        </p:nvSpPr>
        <p:spPr>
          <a:xfrm>
            <a:off x="10588752" y="1115568"/>
            <a:ext cx="1188720" cy="237744"/>
          </a:xfrm>
          <a:prstGeom prst="rect">
            <a:avLst/>
          </a:prstGeom>
          <a:noFill/>
          <a:ln/>
        </p:spPr>
        <p:txBody>
          <a:bodyPr wrap="square" lIns="0" tIns="0" rIns="0" bIns="0" rtlCol="0" anchor="ctr"/>
          <a:lstStyle/>
          <a:p>
            <a:pPr algn="ctr" indent="0" marL="0">
              <a:buNone/>
            </a:pPr>
            <a:r>
              <a:rPr lang="en-US" sz="750" b="1" spc="40" kern="0" dirty="0">
                <a:solidFill>
                  <a:srgbClr val="FFFFFF"/>
                </a:solidFill>
                <a:latin typeface="Calibri" pitchFamily="34" charset="0"/>
                <a:ea typeface="Calibri" pitchFamily="34" charset="-122"/>
                <a:cs typeface="Calibri" pitchFamily="34" charset="-120"/>
              </a:rPr>
              <a:t>TO BE BUILT</a:t>
            </a:r>
            <a:endParaRPr lang="en-US" sz="750" dirty="0"/>
          </a:p>
        </p:txBody>
      </p:sp>
      <p:sp>
        <p:nvSpPr>
          <p:cNvPr id="10" name="Shape 8"/>
          <p:cNvSpPr/>
          <p:nvPr/>
        </p:nvSpPr>
        <p:spPr>
          <a:xfrm>
            <a:off x="411480" y="1463040"/>
            <a:ext cx="5504688" cy="530352"/>
          </a:xfrm>
          <a:prstGeom prst="roundRect">
            <a:avLst>
              <a:gd name="adj" fmla="val 8621"/>
            </a:avLst>
          </a:prstGeom>
          <a:solidFill>
            <a:srgbClr val="FFFFFF"/>
          </a:solidFill>
          <a:ln w="12700">
            <a:solidFill>
              <a:srgbClr val="CBD5DF"/>
            </a:solidFill>
            <a:prstDash val="solid"/>
          </a:ln>
        </p:spPr>
      </p:sp>
      <p:sp>
        <p:nvSpPr>
          <p:cNvPr id="11" name="Shape 9"/>
          <p:cNvSpPr/>
          <p:nvPr/>
        </p:nvSpPr>
        <p:spPr>
          <a:xfrm>
            <a:off x="576072" y="1677924"/>
            <a:ext cx="100584" cy="100584"/>
          </a:xfrm>
          <a:prstGeom prst="ellipse">
            <a:avLst/>
          </a:prstGeom>
          <a:solidFill>
            <a:srgbClr val="0E7C86"/>
          </a:solidFill>
          <a:ln w="6350">
            <a:solidFill>
              <a:srgbClr val="0E7C86"/>
            </a:solidFill>
            <a:prstDash val="solid"/>
          </a:ln>
        </p:spPr>
      </p:sp>
      <p:sp>
        <p:nvSpPr>
          <p:cNvPr id="12" name="Text 10"/>
          <p:cNvSpPr txBox="1"/>
          <p:nvPr/>
        </p:nvSpPr>
        <p:spPr>
          <a:xfrm>
            <a:off x="795528" y="1545336"/>
            <a:ext cx="4956048" cy="201168"/>
          </a:xfrm>
          <a:prstGeom prst="rect">
            <a:avLst/>
          </a:prstGeom>
          <a:noFill/>
          <a:ln/>
        </p:spPr>
        <p:txBody>
          <a:bodyPr wrap="square" lIns="0" tIns="0" rIns="0" bIns="0" rtlCol="0" anchor="ctr"/>
          <a:lstStyle/>
          <a:p>
            <a:pPr indent="0" marL="0">
              <a:buNone/>
            </a:pPr>
            <a:r>
              <a:rPr lang="en-US" sz="1050" b="1" dirty="0">
                <a:solidFill>
                  <a:srgbClr val="0B2239"/>
                </a:solidFill>
                <a:latin typeface="Calibri" pitchFamily="34" charset="0"/>
                <a:ea typeface="Calibri" pitchFamily="34" charset="-122"/>
                <a:cs typeface="Calibri" pitchFamily="34" charset="-120"/>
              </a:rPr>
              <a:t>GitHub Actions</a:t>
            </a:r>
            <a:endParaRPr lang="en-US" sz="1050" dirty="0"/>
          </a:p>
        </p:txBody>
      </p:sp>
      <p:sp>
        <p:nvSpPr>
          <p:cNvPr id="13" name="Text 11"/>
          <p:cNvSpPr txBox="1"/>
          <p:nvPr/>
        </p:nvSpPr>
        <p:spPr>
          <a:xfrm>
            <a:off x="795528" y="1746504"/>
            <a:ext cx="4956048"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평일 09:00 KST 스케줄 · 무인 실행</a:t>
            </a:r>
            <a:endParaRPr lang="en-US" sz="850" dirty="0"/>
          </a:p>
        </p:txBody>
      </p:sp>
      <p:sp>
        <p:nvSpPr>
          <p:cNvPr id="14" name="Shape 12"/>
          <p:cNvSpPr/>
          <p:nvPr/>
        </p:nvSpPr>
        <p:spPr>
          <a:xfrm>
            <a:off x="411480" y="2066544"/>
            <a:ext cx="5504688" cy="530352"/>
          </a:xfrm>
          <a:prstGeom prst="roundRect">
            <a:avLst>
              <a:gd name="adj" fmla="val 8621"/>
            </a:avLst>
          </a:prstGeom>
          <a:solidFill>
            <a:srgbClr val="FFFFFF"/>
          </a:solidFill>
          <a:ln w="12700">
            <a:solidFill>
              <a:srgbClr val="CBD5DF"/>
            </a:solidFill>
            <a:prstDash val="solid"/>
          </a:ln>
        </p:spPr>
      </p:sp>
      <p:sp>
        <p:nvSpPr>
          <p:cNvPr id="15" name="Shape 13"/>
          <p:cNvSpPr/>
          <p:nvPr/>
        </p:nvSpPr>
        <p:spPr>
          <a:xfrm>
            <a:off x="576072" y="2281428"/>
            <a:ext cx="100584" cy="100584"/>
          </a:xfrm>
          <a:prstGeom prst="ellipse">
            <a:avLst/>
          </a:prstGeom>
          <a:solidFill>
            <a:srgbClr val="0E7C86"/>
          </a:solidFill>
          <a:ln w="6350">
            <a:solidFill>
              <a:srgbClr val="0E7C86"/>
            </a:solidFill>
            <a:prstDash val="solid"/>
          </a:ln>
        </p:spPr>
      </p:sp>
      <p:sp>
        <p:nvSpPr>
          <p:cNvPr id="16" name="Text 14"/>
          <p:cNvSpPr txBox="1"/>
          <p:nvPr/>
        </p:nvSpPr>
        <p:spPr>
          <a:xfrm>
            <a:off x="795528" y="2148840"/>
            <a:ext cx="4956048" cy="201168"/>
          </a:xfrm>
          <a:prstGeom prst="rect">
            <a:avLst/>
          </a:prstGeom>
          <a:noFill/>
          <a:ln/>
        </p:spPr>
        <p:txBody>
          <a:bodyPr wrap="square" lIns="0" tIns="0" rIns="0" bIns="0" rtlCol="0" anchor="ctr"/>
          <a:lstStyle/>
          <a:p>
            <a:pPr indent="0" marL="0">
              <a:buNone/>
            </a:pPr>
            <a:r>
              <a:rPr lang="en-US" sz="1050" b="1" dirty="0">
                <a:solidFill>
                  <a:srgbClr val="0B2239"/>
                </a:solidFill>
                <a:latin typeface="Calibri" pitchFamily="34" charset="0"/>
                <a:ea typeface="Calibri" pitchFamily="34" charset="-122"/>
                <a:cs typeface="Calibri" pitchFamily="34" charset="-120"/>
              </a:rPr>
              <a:t>Screening Funnel</a:t>
            </a:r>
            <a:endParaRPr lang="en-US" sz="1050" dirty="0"/>
          </a:p>
        </p:txBody>
      </p:sp>
      <p:sp>
        <p:nvSpPr>
          <p:cNvPr id="17" name="Text 15"/>
          <p:cNvSpPr txBox="1"/>
          <p:nvPr/>
        </p:nvSpPr>
        <p:spPr>
          <a:xfrm>
            <a:off x="795528" y="2350008"/>
            <a:ext cx="4956048"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Market universe → SEC validation → candidate filtering</a:t>
            </a:r>
            <a:endParaRPr lang="en-US" sz="850" dirty="0"/>
          </a:p>
        </p:txBody>
      </p:sp>
      <p:sp>
        <p:nvSpPr>
          <p:cNvPr id="18" name="Shape 16"/>
          <p:cNvSpPr/>
          <p:nvPr/>
        </p:nvSpPr>
        <p:spPr>
          <a:xfrm>
            <a:off x="411480" y="2670048"/>
            <a:ext cx="5504688" cy="530352"/>
          </a:xfrm>
          <a:prstGeom prst="roundRect">
            <a:avLst>
              <a:gd name="adj" fmla="val 8621"/>
            </a:avLst>
          </a:prstGeom>
          <a:solidFill>
            <a:srgbClr val="FFFFFF"/>
          </a:solidFill>
          <a:ln w="12700">
            <a:solidFill>
              <a:srgbClr val="CBD5DF"/>
            </a:solidFill>
            <a:prstDash val="solid"/>
          </a:ln>
        </p:spPr>
      </p:sp>
      <p:sp>
        <p:nvSpPr>
          <p:cNvPr id="19" name="Shape 17"/>
          <p:cNvSpPr/>
          <p:nvPr/>
        </p:nvSpPr>
        <p:spPr>
          <a:xfrm>
            <a:off x="576072" y="2884932"/>
            <a:ext cx="100584" cy="100584"/>
          </a:xfrm>
          <a:prstGeom prst="ellipse">
            <a:avLst/>
          </a:prstGeom>
          <a:solidFill>
            <a:srgbClr val="0E7C86"/>
          </a:solidFill>
          <a:ln w="6350">
            <a:solidFill>
              <a:srgbClr val="0E7C86"/>
            </a:solidFill>
            <a:prstDash val="solid"/>
          </a:ln>
        </p:spPr>
      </p:sp>
      <p:sp>
        <p:nvSpPr>
          <p:cNvPr id="20" name="Text 18"/>
          <p:cNvSpPr txBox="1"/>
          <p:nvPr/>
        </p:nvSpPr>
        <p:spPr>
          <a:xfrm>
            <a:off x="795528" y="2752344"/>
            <a:ext cx="4956048" cy="201168"/>
          </a:xfrm>
          <a:prstGeom prst="rect">
            <a:avLst/>
          </a:prstGeom>
          <a:noFill/>
          <a:ln/>
        </p:spPr>
        <p:txBody>
          <a:bodyPr wrap="square" lIns="0" tIns="0" rIns="0" bIns="0" rtlCol="0" anchor="ctr"/>
          <a:lstStyle/>
          <a:p>
            <a:pPr indent="0" marL="0">
              <a:buNone/>
            </a:pPr>
            <a:r>
              <a:rPr lang="en-US" sz="1050" b="1" dirty="0">
                <a:solidFill>
                  <a:srgbClr val="0B2239"/>
                </a:solidFill>
                <a:latin typeface="Calibri" pitchFamily="34" charset="0"/>
                <a:ea typeface="Calibri" pitchFamily="34" charset="-122"/>
                <a:cs typeface="Calibri" pitchFamily="34" charset="-120"/>
              </a:rPr>
              <a:t>Deep-screen Snapshot</a:t>
            </a:r>
            <a:endParaRPr lang="en-US" sz="1050" dirty="0"/>
          </a:p>
        </p:txBody>
      </p:sp>
      <p:sp>
        <p:nvSpPr>
          <p:cNvPr id="21" name="Text 19"/>
          <p:cNvSpPr txBox="1"/>
          <p:nvPr/>
        </p:nvSpPr>
        <p:spPr>
          <a:xfrm>
            <a:off x="795528" y="2953512"/>
            <a:ext cx="4956048"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일별 스냅샷 영속화 · 전일 대비 변화 비교</a:t>
            </a:r>
            <a:endParaRPr lang="en-US" sz="850" dirty="0"/>
          </a:p>
        </p:txBody>
      </p:sp>
      <p:sp>
        <p:nvSpPr>
          <p:cNvPr id="22" name="Shape 20"/>
          <p:cNvSpPr/>
          <p:nvPr/>
        </p:nvSpPr>
        <p:spPr>
          <a:xfrm>
            <a:off x="411480" y="3273552"/>
            <a:ext cx="5504688" cy="530352"/>
          </a:xfrm>
          <a:prstGeom prst="roundRect">
            <a:avLst>
              <a:gd name="adj" fmla="val 8621"/>
            </a:avLst>
          </a:prstGeom>
          <a:solidFill>
            <a:srgbClr val="FFFFFF"/>
          </a:solidFill>
          <a:ln w="12700">
            <a:solidFill>
              <a:srgbClr val="CBD5DF"/>
            </a:solidFill>
            <a:prstDash val="solid"/>
          </a:ln>
        </p:spPr>
      </p:sp>
      <p:sp>
        <p:nvSpPr>
          <p:cNvPr id="23" name="Shape 21"/>
          <p:cNvSpPr/>
          <p:nvPr/>
        </p:nvSpPr>
        <p:spPr>
          <a:xfrm>
            <a:off x="576072" y="3488436"/>
            <a:ext cx="100584" cy="100584"/>
          </a:xfrm>
          <a:prstGeom prst="ellipse">
            <a:avLst/>
          </a:prstGeom>
          <a:solidFill>
            <a:srgbClr val="0E7C86"/>
          </a:solidFill>
          <a:ln w="6350">
            <a:solidFill>
              <a:srgbClr val="0E7C86"/>
            </a:solidFill>
            <a:prstDash val="solid"/>
          </a:ln>
        </p:spPr>
      </p:sp>
      <p:sp>
        <p:nvSpPr>
          <p:cNvPr id="24" name="Text 22"/>
          <p:cNvSpPr txBox="1"/>
          <p:nvPr/>
        </p:nvSpPr>
        <p:spPr>
          <a:xfrm>
            <a:off x="795528" y="3355848"/>
            <a:ext cx="4956048" cy="201168"/>
          </a:xfrm>
          <a:prstGeom prst="rect">
            <a:avLst/>
          </a:prstGeom>
          <a:noFill/>
          <a:ln/>
        </p:spPr>
        <p:txBody>
          <a:bodyPr wrap="square" lIns="0" tIns="0" rIns="0" bIns="0" rtlCol="0" anchor="ctr"/>
          <a:lstStyle/>
          <a:p>
            <a:pPr indent="0" marL="0">
              <a:buNone/>
            </a:pPr>
            <a:r>
              <a:rPr lang="en-US" sz="1050" b="1" dirty="0">
                <a:solidFill>
                  <a:srgbClr val="0B2239"/>
                </a:solidFill>
                <a:latin typeface="Calibri" pitchFamily="34" charset="0"/>
                <a:ea typeface="Calibri" pitchFamily="34" charset="-122"/>
                <a:cs typeface="Calibri" pitchFamily="34" charset="-120"/>
              </a:rPr>
              <a:t>Watchlist Tracking</a:t>
            </a:r>
            <a:endParaRPr lang="en-US" sz="1050" dirty="0"/>
          </a:p>
        </p:txBody>
      </p:sp>
      <p:sp>
        <p:nvSpPr>
          <p:cNvPr id="25" name="Text 23"/>
          <p:cNvSpPr txBox="1"/>
          <p:nvPr/>
        </p:nvSpPr>
        <p:spPr>
          <a:xfrm>
            <a:off x="795528" y="3557016"/>
            <a:ext cx="4956048"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독립 감시 경로 — 스크리닝이 실패해도 감시는 유지</a:t>
            </a:r>
            <a:endParaRPr lang="en-US" sz="850" dirty="0"/>
          </a:p>
        </p:txBody>
      </p:sp>
      <p:sp>
        <p:nvSpPr>
          <p:cNvPr id="26" name="Shape 24"/>
          <p:cNvSpPr/>
          <p:nvPr/>
        </p:nvSpPr>
        <p:spPr>
          <a:xfrm>
            <a:off x="411480" y="3877056"/>
            <a:ext cx="5504688" cy="530352"/>
          </a:xfrm>
          <a:prstGeom prst="roundRect">
            <a:avLst>
              <a:gd name="adj" fmla="val 8621"/>
            </a:avLst>
          </a:prstGeom>
          <a:solidFill>
            <a:srgbClr val="FFFFFF"/>
          </a:solidFill>
          <a:ln w="12700">
            <a:solidFill>
              <a:srgbClr val="CBD5DF"/>
            </a:solidFill>
            <a:prstDash val="solid"/>
          </a:ln>
        </p:spPr>
      </p:sp>
      <p:sp>
        <p:nvSpPr>
          <p:cNvPr id="27" name="Shape 25"/>
          <p:cNvSpPr/>
          <p:nvPr/>
        </p:nvSpPr>
        <p:spPr>
          <a:xfrm>
            <a:off x="576072" y="4091940"/>
            <a:ext cx="100584" cy="100584"/>
          </a:xfrm>
          <a:prstGeom prst="ellipse">
            <a:avLst/>
          </a:prstGeom>
          <a:solidFill>
            <a:srgbClr val="0E7C86"/>
          </a:solidFill>
          <a:ln w="6350">
            <a:solidFill>
              <a:srgbClr val="0E7C86"/>
            </a:solidFill>
            <a:prstDash val="solid"/>
          </a:ln>
        </p:spPr>
      </p:sp>
      <p:sp>
        <p:nvSpPr>
          <p:cNvPr id="28" name="Text 26"/>
          <p:cNvSpPr txBox="1"/>
          <p:nvPr/>
        </p:nvSpPr>
        <p:spPr>
          <a:xfrm>
            <a:off x="795528" y="3959352"/>
            <a:ext cx="4956048" cy="201168"/>
          </a:xfrm>
          <a:prstGeom prst="rect">
            <a:avLst/>
          </a:prstGeom>
          <a:noFill/>
          <a:ln/>
        </p:spPr>
        <p:txBody>
          <a:bodyPr wrap="square" lIns="0" tIns="0" rIns="0" bIns="0" rtlCol="0" anchor="ctr"/>
          <a:lstStyle/>
          <a:p>
            <a:pPr indent="0" marL="0">
              <a:buNone/>
            </a:pPr>
            <a:r>
              <a:rPr lang="en-US" sz="1050" b="1" dirty="0">
                <a:solidFill>
                  <a:srgbClr val="0B2239"/>
                </a:solidFill>
                <a:latin typeface="Calibri" pitchFamily="34" charset="0"/>
                <a:ea typeface="Calibri" pitchFamily="34" charset="-122"/>
                <a:cs typeface="Calibri" pitchFamily="34" charset="-120"/>
              </a:rPr>
              <a:t>Validation Infrastructure</a:t>
            </a:r>
            <a:endParaRPr lang="en-US" sz="1050" dirty="0"/>
          </a:p>
        </p:txBody>
      </p:sp>
      <p:sp>
        <p:nvSpPr>
          <p:cNvPr id="29" name="Text 27"/>
          <p:cNvSpPr txBox="1"/>
          <p:nvPr/>
        </p:nvSpPr>
        <p:spPr>
          <a:xfrm>
            <a:off x="795528" y="4160520"/>
            <a:ext cx="4956048"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골든 재현 · 데이터 무결성 · ledger 보호 · 회귀 테스트 917건</a:t>
            </a:r>
            <a:endParaRPr lang="en-US" sz="850" dirty="0"/>
          </a:p>
        </p:txBody>
      </p:sp>
      <p:sp>
        <p:nvSpPr>
          <p:cNvPr id="30" name="Shape 28"/>
          <p:cNvSpPr/>
          <p:nvPr/>
        </p:nvSpPr>
        <p:spPr>
          <a:xfrm>
            <a:off x="411480" y="4480560"/>
            <a:ext cx="5504688" cy="530352"/>
          </a:xfrm>
          <a:prstGeom prst="roundRect">
            <a:avLst>
              <a:gd name="adj" fmla="val 8621"/>
            </a:avLst>
          </a:prstGeom>
          <a:solidFill>
            <a:srgbClr val="FFFFFF"/>
          </a:solidFill>
          <a:ln w="12700">
            <a:solidFill>
              <a:srgbClr val="CBD5DF"/>
            </a:solidFill>
            <a:prstDash val="solid"/>
          </a:ln>
        </p:spPr>
      </p:sp>
      <p:sp>
        <p:nvSpPr>
          <p:cNvPr id="31" name="Shape 29"/>
          <p:cNvSpPr/>
          <p:nvPr/>
        </p:nvSpPr>
        <p:spPr>
          <a:xfrm>
            <a:off x="576072" y="4695444"/>
            <a:ext cx="100584" cy="100584"/>
          </a:xfrm>
          <a:prstGeom prst="ellipse">
            <a:avLst/>
          </a:prstGeom>
          <a:solidFill>
            <a:srgbClr val="0E7C86"/>
          </a:solidFill>
          <a:ln w="6350">
            <a:solidFill>
              <a:srgbClr val="0E7C86"/>
            </a:solidFill>
            <a:prstDash val="solid"/>
          </a:ln>
        </p:spPr>
      </p:sp>
      <p:sp>
        <p:nvSpPr>
          <p:cNvPr id="32" name="Text 30"/>
          <p:cNvSpPr txBox="1"/>
          <p:nvPr/>
        </p:nvSpPr>
        <p:spPr>
          <a:xfrm>
            <a:off x="795528" y="4562856"/>
            <a:ext cx="4956048" cy="201168"/>
          </a:xfrm>
          <a:prstGeom prst="rect">
            <a:avLst/>
          </a:prstGeom>
          <a:noFill/>
          <a:ln/>
        </p:spPr>
        <p:txBody>
          <a:bodyPr wrap="square" lIns="0" tIns="0" rIns="0" bIns="0" rtlCol="0" anchor="ctr"/>
          <a:lstStyle/>
          <a:p>
            <a:pPr indent="0" marL="0">
              <a:buNone/>
            </a:pPr>
            <a:r>
              <a:rPr lang="en-US" sz="1050" b="1" dirty="0">
                <a:solidFill>
                  <a:srgbClr val="0B2239"/>
                </a:solidFill>
                <a:latin typeface="Calibri" pitchFamily="34" charset="0"/>
                <a:ea typeface="Calibri" pitchFamily="34" charset="-122"/>
                <a:cs typeface="Calibri" pitchFamily="34" charset="-120"/>
              </a:rPr>
              <a:t>GitHub Issues</a:t>
            </a:r>
            <a:endParaRPr lang="en-US" sz="1050" dirty="0"/>
          </a:p>
        </p:txBody>
      </p:sp>
      <p:sp>
        <p:nvSpPr>
          <p:cNvPr id="33" name="Text 31"/>
          <p:cNvSpPr txBox="1"/>
          <p:nvPr/>
        </p:nvSpPr>
        <p:spPr>
          <a:xfrm>
            <a:off x="795528" y="4764024"/>
            <a:ext cx="4956048"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자동 실행 기록 · 실패/결과 로깅</a:t>
            </a:r>
            <a:endParaRPr lang="en-US" sz="850" dirty="0"/>
          </a:p>
        </p:txBody>
      </p:sp>
      <p:sp>
        <p:nvSpPr>
          <p:cNvPr id="34" name="Shape 32"/>
          <p:cNvSpPr/>
          <p:nvPr/>
        </p:nvSpPr>
        <p:spPr>
          <a:xfrm>
            <a:off x="6272784" y="1463040"/>
            <a:ext cx="5504688" cy="658368"/>
          </a:xfrm>
          <a:prstGeom prst="roundRect">
            <a:avLst>
              <a:gd name="adj" fmla="val 6944"/>
            </a:avLst>
          </a:prstGeom>
          <a:solidFill>
            <a:srgbClr val="F4F7FA"/>
          </a:solidFill>
          <a:ln w="12700">
            <a:solidFill>
              <a:srgbClr val="CBD5DF"/>
            </a:solidFill>
            <a:prstDash val="dash"/>
          </a:ln>
        </p:spPr>
      </p:sp>
      <p:sp>
        <p:nvSpPr>
          <p:cNvPr id="35" name="Text 33"/>
          <p:cNvSpPr txBox="1"/>
          <p:nvPr/>
        </p:nvSpPr>
        <p:spPr>
          <a:xfrm>
            <a:off x="6419088" y="1554480"/>
            <a:ext cx="274320" cy="201168"/>
          </a:xfrm>
          <a:prstGeom prst="rect">
            <a:avLst/>
          </a:prstGeom>
          <a:noFill/>
          <a:ln/>
        </p:spPr>
        <p:txBody>
          <a:bodyPr wrap="square" lIns="0" tIns="0" rIns="0" bIns="0" rtlCol="0" anchor="ctr"/>
          <a:lstStyle/>
          <a:p>
            <a:pPr indent="0" marL="0">
              <a:buNone/>
            </a:pPr>
            <a:r>
              <a:rPr lang="en-US" sz="1000" b="1" dirty="0">
                <a:solidFill>
                  <a:srgbClr val="8494A3"/>
                </a:solidFill>
                <a:latin typeface="Calibri" pitchFamily="34" charset="0"/>
                <a:ea typeface="Calibri" pitchFamily="34" charset="-122"/>
                <a:cs typeface="Calibri" pitchFamily="34" charset="-120"/>
              </a:rPr>
              <a:t>1</a:t>
            </a:r>
            <a:endParaRPr lang="en-US" sz="1000" dirty="0"/>
          </a:p>
        </p:txBody>
      </p:sp>
      <p:sp>
        <p:nvSpPr>
          <p:cNvPr id="36" name="Text 34"/>
          <p:cNvSpPr txBox="1"/>
          <p:nvPr/>
        </p:nvSpPr>
        <p:spPr>
          <a:xfrm>
            <a:off x="6711696" y="1545336"/>
            <a:ext cx="4901184" cy="201168"/>
          </a:xfrm>
          <a:prstGeom prst="rect">
            <a:avLst/>
          </a:prstGeom>
          <a:noFill/>
          <a:ln/>
        </p:spPr>
        <p:txBody>
          <a:bodyPr wrap="square" lIns="0" tIns="0" rIns="0" bIns="0" rtlCol="0" anchor="ctr"/>
          <a:lstStyle/>
          <a:p>
            <a:pPr indent="0" marL="0">
              <a:buNone/>
            </a:pPr>
            <a:r>
              <a:rPr lang="en-US" sz="1050" b="1" dirty="0">
                <a:solidFill>
                  <a:srgbClr val="12395C"/>
                </a:solidFill>
                <a:latin typeface="Calibri" pitchFamily="34" charset="0"/>
                <a:ea typeface="Calibri" pitchFamily="34" charset="-122"/>
                <a:cs typeface="Calibri" pitchFamily="34" charset="-120"/>
              </a:rPr>
              <a:t>RESEARCH PACK</a:t>
            </a:r>
            <a:endParaRPr lang="en-US" sz="1050" dirty="0"/>
          </a:p>
        </p:txBody>
      </p:sp>
      <p:sp>
        <p:nvSpPr>
          <p:cNvPr id="37" name="Text 35"/>
          <p:cNvSpPr txBox="1"/>
          <p:nvPr/>
        </p:nvSpPr>
        <p:spPr>
          <a:xfrm>
            <a:off x="6711696" y="1746504"/>
            <a:ext cx="4901184"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기업별 분석 결과를 하나의 auditable investment case로 통합</a:t>
            </a:r>
            <a:endParaRPr lang="en-US" sz="850" dirty="0"/>
          </a:p>
        </p:txBody>
      </p:sp>
      <p:sp>
        <p:nvSpPr>
          <p:cNvPr id="38" name="Text 36"/>
          <p:cNvSpPr txBox="1"/>
          <p:nvPr/>
        </p:nvSpPr>
        <p:spPr>
          <a:xfrm>
            <a:off x="6711696" y="1929384"/>
            <a:ext cx="4901184" cy="173736"/>
          </a:xfrm>
          <a:prstGeom prst="rect">
            <a:avLst/>
          </a:prstGeom>
          <a:noFill/>
          <a:ln/>
        </p:spPr>
        <p:txBody>
          <a:bodyPr wrap="square" lIns="0" tIns="0" rIns="0" bIns="0" rtlCol="0" anchor="ctr"/>
          <a:lstStyle/>
          <a:p>
            <a:pPr indent="0" marL="0">
              <a:buNone/>
            </a:pPr>
            <a:r>
              <a:rPr lang="en-US" sz="750" b="1" dirty="0">
                <a:solidFill>
                  <a:srgbClr val="A5713C"/>
                </a:solidFill>
                <a:latin typeface="Calibri" pitchFamily="34" charset="0"/>
                <a:ea typeface="Calibri" pitchFamily="34" charset="-122"/>
                <a:cs typeface="Calibri" pitchFamily="34" charset="-120"/>
              </a:rPr>
              <a:t>미구축</a:t>
            </a:r>
            <a:endParaRPr lang="en-US" sz="750" dirty="0"/>
          </a:p>
        </p:txBody>
      </p:sp>
      <p:sp>
        <p:nvSpPr>
          <p:cNvPr id="39" name="Shape 37"/>
          <p:cNvSpPr/>
          <p:nvPr/>
        </p:nvSpPr>
        <p:spPr>
          <a:xfrm>
            <a:off x="6272784" y="2194560"/>
            <a:ext cx="5504688" cy="658368"/>
          </a:xfrm>
          <a:prstGeom prst="roundRect">
            <a:avLst>
              <a:gd name="adj" fmla="val 6944"/>
            </a:avLst>
          </a:prstGeom>
          <a:solidFill>
            <a:srgbClr val="F4F7FA"/>
          </a:solidFill>
          <a:ln w="12700">
            <a:solidFill>
              <a:srgbClr val="CBD5DF"/>
            </a:solidFill>
            <a:prstDash val="dash"/>
          </a:ln>
        </p:spPr>
      </p:sp>
      <p:sp>
        <p:nvSpPr>
          <p:cNvPr id="40" name="Text 38"/>
          <p:cNvSpPr txBox="1"/>
          <p:nvPr/>
        </p:nvSpPr>
        <p:spPr>
          <a:xfrm>
            <a:off x="6419088" y="2286000"/>
            <a:ext cx="274320" cy="201168"/>
          </a:xfrm>
          <a:prstGeom prst="rect">
            <a:avLst/>
          </a:prstGeom>
          <a:noFill/>
          <a:ln/>
        </p:spPr>
        <p:txBody>
          <a:bodyPr wrap="square" lIns="0" tIns="0" rIns="0" bIns="0" rtlCol="0" anchor="ctr"/>
          <a:lstStyle/>
          <a:p>
            <a:pPr indent="0" marL="0">
              <a:buNone/>
            </a:pPr>
            <a:r>
              <a:rPr lang="en-US" sz="1000" b="1" dirty="0">
                <a:solidFill>
                  <a:srgbClr val="8494A3"/>
                </a:solidFill>
                <a:latin typeface="Calibri" pitchFamily="34" charset="0"/>
                <a:ea typeface="Calibri" pitchFamily="34" charset="-122"/>
                <a:cs typeface="Calibri" pitchFamily="34" charset="-120"/>
              </a:rPr>
              <a:t>2</a:t>
            </a:r>
            <a:endParaRPr lang="en-US" sz="1000" dirty="0"/>
          </a:p>
        </p:txBody>
      </p:sp>
      <p:sp>
        <p:nvSpPr>
          <p:cNvPr id="41" name="Text 39"/>
          <p:cNvSpPr txBox="1"/>
          <p:nvPr/>
        </p:nvSpPr>
        <p:spPr>
          <a:xfrm>
            <a:off x="6711696" y="2276856"/>
            <a:ext cx="4901184" cy="201168"/>
          </a:xfrm>
          <a:prstGeom prst="rect">
            <a:avLst/>
          </a:prstGeom>
          <a:noFill/>
          <a:ln/>
        </p:spPr>
        <p:txBody>
          <a:bodyPr wrap="square" lIns="0" tIns="0" rIns="0" bIns="0" rtlCol="0" anchor="ctr"/>
          <a:lstStyle/>
          <a:p>
            <a:pPr indent="0" marL="0">
              <a:buNone/>
            </a:pPr>
            <a:r>
              <a:rPr lang="en-US" sz="1050" b="1" dirty="0">
                <a:solidFill>
                  <a:srgbClr val="12395C"/>
                </a:solidFill>
                <a:latin typeface="Calibri" pitchFamily="34" charset="0"/>
                <a:ea typeface="Calibri" pitchFamily="34" charset="-122"/>
                <a:cs typeface="Calibri" pitchFamily="34" charset="-120"/>
              </a:rPr>
              <a:t>THESIS DATABASE</a:t>
            </a:r>
            <a:endParaRPr lang="en-US" sz="1050" dirty="0"/>
          </a:p>
        </p:txBody>
      </p:sp>
      <p:sp>
        <p:nvSpPr>
          <p:cNvPr id="42" name="Text 40"/>
          <p:cNvSpPr txBox="1"/>
          <p:nvPr/>
        </p:nvSpPr>
        <p:spPr>
          <a:xfrm>
            <a:off x="6711696" y="2478024"/>
            <a:ext cx="4901184"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Thesis · 가정 · 촉매 · 반증조건 · 감시변수 · 재검토일</a:t>
            </a:r>
            <a:endParaRPr lang="en-US" sz="850" dirty="0"/>
          </a:p>
        </p:txBody>
      </p:sp>
      <p:sp>
        <p:nvSpPr>
          <p:cNvPr id="43" name="Text 41"/>
          <p:cNvSpPr txBox="1"/>
          <p:nvPr/>
        </p:nvSpPr>
        <p:spPr>
          <a:xfrm>
            <a:off x="6711696" y="2660904"/>
            <a:ext cx="4901184" cy="173736"/>
          </a:xfrm>
          <a:prstGeom prst="rect">
            <a:avLst/>
          </a:prstGeom>
          <a:noFill/>
          <a:ln/>
        </p:spPr>
        <p:txBody>
          <a:bodyPr wrap="square" lIns="0" tIns="0" rIns="0" bIns="0" rtlCol="0" anchor="ctr"/>
          <a:lstStyle/>
          <a:p>
            <a:pPr indent="0" marL="0">
              <a:buNone/>
            </a:pPr>
            <a:r>
              <a:rPr lang="en-US" sz="750" b="1" dirty="0">
                <a:solidFill>
                  <a:srgbClr val="A5713C"/>
                </a:solidFill>
                <a:latin typeface="Calibri" pitchFamily="34" charset="0"/>
                <a:ea typeface="Calibri" pitchFamily="34" charset="-122"/>
                <a:cs typeface="Calibri" pitchFamily="34" charset="-120"/>
              </a:rPr>
              <a:t>스키마는 코드에 존재 · 운영 기록 0건</a:t>
            </a:r>
            <a:endParaRPr lang="en-US" sz="750" dirty="0"/>
          </a:p>
        </p:txBody>
      </p:sp>
      <p:sp>
        <p:nvSpPr>
          <p:cNvPr id="44" name="Shape 42"/>
          <p:cNvSpPr/>
          <p:nvPr/>
        </p:nvSpPr>
        <p:spPr>
          <a:xfrm>
            <a:off x="6272784" y="2926080"/>
            <a:ext cx="5504688" cy="658368"/>
          </a:xfrm>
          <a:prstGeom prst="roundRect">
            <a:avLst>
              <a:gd name="adj" fmla="val 6944"/>
            </a:avLst>
          </a:prstGeom>
          <a:solidFill>
            <a:srgbClr val="F4F7FA"/>
          </a:solidFill>
          <a:ln w="12700">
            <a:solidFill>
              <a:srgbClr val="CBD5DF"/>
            </a:solidFill>
            <a:prstDash val="dash"/>
          </a:ln>
        </p:spPr>
      </p:sp>
      <p:sp>
        <p:nvSpPr>
          <p:cNvPr id="45" name="Text 43"/>
          <p:cNvSpPr txBox="1"/>
          <p:nvPr/>
        </p:nvSpPr>
        <p:spPr>
          <a:xfrm>
            <a:off x="6419088" y="3017520"/>
            <a:ext cx="274320" cy="201168"/>
          </a:xfrm>
          <a:prstGeom prst="rect">
            <a:avLst/>
          </a:prstGeom>
          <a:noFill/>
          <a:ln/>
        </p:spPr>
        <p:txBody>
          <a:bodyPr wrap="square" lIns="0" tIns="0" rIns="0" bIns="0" rtlCol="0" anchor="ctr"/>
          <a:lstStyle/>
          <a:p>
            <a:pPr indent="0" marL="0">
              <a:buNone/>
            </a:pPr>
            <a:r>
              <a:rPr lang="en-US" sz="1000" b="1" dirty="0">
                <a:solidFill>
                  <a:srgbClr val="8494A3"/>
                </a:solidFill>
                <a:latin typeface="Calibri" pitchFamily="34" charset="0"/>
                <a:ea typeface="Calibri" pitchFamily="34" charset="-122"/>
                <a:cs typeface="Calibri" pitchFamily="34" charset="-120"/>
              </a:rPr>
              <a:t>3</a:t>
            </a:r>
            <a:endParaRPr lang="en-US" sz="1000" dirty="0"/>
          </a:p>
        </p:txBody>
      </p:sp>
      <p:sp>
        <p:nvSpPr>
          <p:cNvPr id="46" name="Text 44"/>
          <p:cNvSpPr txBox="1"/>
          <p:nvPr/>
        </p:nvSpPr>
        <p:spPr>
          <a:xfrm>
            <a:off x="6711696" y="3008376"/>
            <a:ext cx="4901184" cy="201168"/>
          </a:xfrm>
          <a:prstGeom prst="rect">
            <a:avLst/>
          </a:prstGeom>
          <a:noFill/>
          <a:ln/>
        </p:spPr>
        <p:txBody>
          <a:bodyPr wrap="square" lIns="0" tIns="0" rIns="0" bIns="0" rtlCol="0" anchor="ctr"/>
          <a:lstStyle/>
          <a:p>
            <a:pPr indent="0" marL="0">
              <a:buNone/>
            </a:pPr>
            <a:r>
              <a:rPr lang="en-US" sz="1050" b="1" dirty="0">
                <a:solidFill>
                  <a:srgbClr val="12395C"/>
                </a:solidFill>
                <a:latin typeface="Calibri" pitchFamily="34" charset="0"/>
                <a:ea typeface="Calibri" pitchFamily="34" charset="-122"/>
                <a:cs typeface="Calibri" pitchFamily="34" charset="-120"/>
              </a:rPr>
              <a:t>THESIS CHANGE DETECTION</a:t>
            </a:r>
            <a:endParaRPr lang="en-US" sz="1050" dirty="0"/>
          </a:p>
        </p:txBody>
      </p:sp>
      <p:sp>
        <p:nvSpPr>
          <p:cNvPr id="47" name="Text 45"/>
          <p:cNvSpPr txBox="1"/>
          <p:nvPr/>
        </p:nvSpPr>
        <p:spPr>
          <a:xfrm>
            <a:off x="6711696" y="3209544"/>
            <a:ext cx="4901184"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주가 변화가 아니라 Thesis를 바꿀 수 있는 변화를 탐지</a:t>
            </a:r>
            <a:endParaRPr lang="en-US" sz="850" dirty="0"/>
          </a:p>
        </p:txBody>
      </p:sp>
      <p:sp>
        <p:nvSpPr>
          <p:cNvPr id="48" name="Text 46"/>
          <p:cNvSpPr txBox="1"/>
          <p:nvPr/>
        </p:nvSpPr>
        <p:spPr>
          <a:xfrm>
            <a:off x="6711696" y="3392424"/>
            <a:ext cx="4901184" cy="173736"/>
          </a:xfrm>
          <a:prstGeom prst="rect">
            <a:avLst/>
          </a:prstGeom>
          <a:noFill/>
          <a:ln/>
        </p:spPr>
        <p:txBody>
          <a:bodyPr wrap="square" lIns="0" tIns="0" rIns="0" bIns="0" rtlCol="0" anchor="ctr"/>
          <a:lstStyle/>
          <a:p>
            <a:pPr indent="0" marL="0">
              <a:buNone/>
            </a:pPr>
            <a:r>
              <a:rPr lang="en-US" sz="750" b="1" dirty="0">
                <a:solidFill>
                  <a:srgbClr val="A5713C"/>
                </a:solidFill>
                <a:latin typeface="Calibri" pitchFamily="34" charset="0"/>
                <a:ea typeface="Calibri" pitchFamily="34" charset="-122"/>
                <a:cs typeface="Calibri" pitchFamily="34" charset="-120"/>
              </a:rPr>
              <a:t>반증조건 스캔만 존재 · 판정은 사람이</a:t>
            </a:r>
            <a:endParaRPr lang="en-US" sz="750" dirty="0"/>
          </a:p>
        </p:txBody>
      </p:sp>
      <p:sp>
        <p:nvSpPr>
          <p:cNvPr id="49" name="Shape 47"/>
          <p:cNvSpPr/>
          <p:nvPr/>
        </p:nvSpPr>
        <p:spPr>
          <a:xfrm>
            <a:off x="6272784" y="3657600"/>
            <a:ext cx="5504688" cy="658368"/>
          </a:xfrm>
          <a:prstGeom prst="roundRect">
            <a:avLst>
              <a:gd name="adj" fmla="val 6944"/>
            </a:avLst>
          </a:prstGeom>
          <a:solidFill>
            <a:srgbClr val="F4F7FA"/>
          </a:solidFill>
          <a:ln w="12700">
            <a:solidFill>
              <a:srgbClr val="CBD5DF"/>
            </a:solidFill>
            <a:prstDash val="dash"/>
          </a:ln>
        </p:spPr>
      </p:sp>
      <p:sp>
        <p:nvSpPr>
          <p:cNvPr id="50" name="Text 48"/>
          <p:cNvSpPr txBox="1"/>
          <p:nvPr/>
        </p:nvSpPr>
        <p:spPr>
          <a:xfrm>
            <a:off x="6419088" y="3749040"/>
            <a:ext cx="274320" cy="201168"/>
          </a:xfrm>
          <a:prstGeom prst="rect">
            <a:avLst/>
          </a:prstGeom>
          <a:noFill/>
          <a:ln/>
        </p:spPr>
        <p:txBody>
          <a:bodyPr wrap="square" lIns="0" tIns="0" rIns="0" bIns="0" rtlCol="0" anchor="ctr"/>
          <a:lstStyle/>
          <a:p>
            <a:pPr indent="0" marL="0">
              <a:buNone/>
            </a:pPr>
            <a:r>
              <a:rPr lang="en-US" sz="1000" b="1" dirty="0">
                <a:solidFill>
                  <a:srgbClr val="8494A3"/>
                </a:solidFill>
                <a:latin typeface="Calibri" pitchFamily="34" charset="0"/>
                <a:ea typeface="Calibri" pitchFamily="34" charset="-122"/>
                <a:cs typeface="Calibri" pitchFamily="34" charset="-120"/>
              </a:rPr>
              <a:t>4</a:t>
            </a:r>
            <a:endParaRPr lang="en-US" sz="1000" dirty="0"/>
          </a:p>
        </p:txBody>
      </p:sp>
      <p:sp>
        <p:nvSpPr>
          <p:cNvPr id="51" name="Text 49"/>
          <p:cNvSpPr txBox="1"/>
          <p:nvPr/>
        </p:nvSpPr>
        <p:spPr>
          <a:xfrm>
            <a:off x="6711696" y="3739896"/>
            <a:ext cx="4901184" cy="201168"/>
          </a:xfrm>
          <a:prstGeom prst="rect">
            <a:avLst/>
          </a:prstGeom>
          <a:noFill/>
          <a:ln/>
        </p:spPr>
        <p:txBody>
          <a:bodyPr wrap="square" lIns="0" tIns="0" rIns="0" bIns="0" rtlCol="0" anchor="ctr"/>
          <a:lstStyle/>
          <a:p>
            <a:pPr indent="0" marL="0">
              <a:buNone/>
            </a:pPr>
            <a:r>
              <a:rPr lang="en-US" sz="1050" b="1" dirty="0">
                <a:solidFill>
                  <a:srgbClr val="12395C"/>
                </a:solidFill>
                <a:latin typeface="Calibri" pitchFamily="34" charset="0"/>
                <a:ea typeface="Calibri" pitchFamily="34" charset="-122"/>
                <a:cs typeface="Calibri" pitchFamily="34" charset="-120"/>
              </a:rPr>
              <a:t>DECISION RECORD</a:t>
            </a:r>
            <a:endParaRPr lang="en-US" sz="1050" dirty="0"/>
          </a:p>
        </p:txBody>
      </p:sp>
      <p:sp>
        <p:nvSpPr>
          <p:cNvPr id="52" name="Text 50"/>
          <p:cNvSpPr txBox="1"/>
          <p:nvPr/>
        </p:nvSpPr>
        <p:spPr>
          <a:xfrm>
            <a:off x="6711696" y="3941064"/>
            <a:ext cx="4901184"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BUY / WATCH / PASS + 근거 · 가정 · 리스크 · 사람의 승인</a:t>
            </a:r>
            <a:endParaRPr lang="en-US" sz="850" dirty="0"/>
          </a:p>
        </p:txBody>
      </p:sp>
      <p:sp>
        <p:nvSpPr>
          <p:cNvPr id="53" name="Text 51"/>
          <p:cNvSpPr txBox="1"/>
          <p:nvPr/>
        </p:nvSpPr>
        <p:spPr>
          <a:xfrm>
            <a:off x="6711696" y="4123944"/>
            <a:ext cx="4901184" cy="173736"/>
          </a:xfrm>
          <a:prstGeom prst="rect">
            <a:avLst/>
          </a:prstGeom>
          <a:noFill/>
          <a:ln/>
        </p:spPr>
        <p:txBody>
          <a:bodyPr wrap="square" lIns="0" tIns="0" rIns="0" bIns="0" rtlCol="0" anchor="ctr"/>
          <a:lstStyle/>
          <a:p>
            <a:pPr indent="0" marL="0">
              <a:buNone/>
            </a:pPr>
            <a:r>
              <a:rPr lang="en-US" sz="750" b="1" dirty="0">
                <a:solidFill>
                  <a:srgbClr val="A5713C"/>
                </a:solidFill>
                <a:latin typeface="Calibri" pitchFamily="34" charset="0"/>
                <a:ea typeface="Calibri" pitchFamily="34" charset="-122"/>
                <a:cs typeface="Calibri" pitchFamily="34" charset="-120"/>
              </a:rPr>
              <a:t>스키마는 코드에 존재 · 운영 기록 0건</a:t>
            </a:r>
            <a:endParaRPr lang="en-US" sz="750" dirty="0"/>
          </a:p>
        </p:txBody>
      </p:sp>
      <p:sp>
        <p:nvSpPr>
          <p:cNvPr id="54" name="Shape 52"/>
          <p:cNvSpPr/>
          <p:nvPr/>
        </p:nvSpPr>
        <p:spPr>
          <a:xfrm>
            <a:off x="6272784" y="4389120"/>
            <a:ext cx="5504688" cy="658368"/>
          </a:xfrm>
          <a:prstGeom prst="roundRect">
            <a:avLst>
              <a:gd name="adj" fmla="val 6944"/>
            </a:avLst>
          </a:prstGeom>
          <a:solidFill>
            <a:srgbClr val="F4F7FA"/>
          </a:solidFill>
          <a:ln w="12700">
            <a:solidFill>
              <a:srgbClr val="CBD5DF"/>
            </a:solidFill>
            <a:prstDash val="dash"/>
          </a:ln>
        </p:spPr>
      </p:sp>
      <p:sp>
        <p:nvSpPr>
          <p:cNvPr id="55" name="Text 53"/>
          <p:cNvSpPr txBox="1"/>
          <p:nvPr/>
        </p:nvSpPr>
        <p:spPr>
          <a:xfrm>
            <a:off x="6419088" y="4480560"/>
            <a:ext cx="274320" cy="201168"/>
          </a:xfrm>
          <a:prstGeom prst="rect">
            <a:avLst/>
          </a:prstGeom>
          <a:noFill/>
          <a:ln/>
        </p:spPr>
        <p:txBody>
          <a:bodyPr wrap="square" lIns="0" tIns="0" rIns="0" bIns="0" rtlCol="0" anchor="ctr"/>
          <a:lstStyle/>
          <a:p>
            <a:pPr indent="0" marL="0">
              <a:buNone/>
            </a:pPr>
            <a:r>
              <a:rPr lang="en-US" sz="1000" b="1" dirty="0">
                <a:solidFill>
                  <a:srgbClr val="8494A3"/>
                </a:solidFill>
                <a:latin typeface="Calibri" pitchFamily="34" charset="0"/>
                <a:ea typeface="Calibri" pitchFamily="34" charset="-122"/>
                <a:cs typeface="Calibri" pitchFamily="34" charset="-120"/>
              </a:rPr>
              <a:t>5</a:t>
            </a:r>
            <a:endParaRPr lang="en-US" sz="1000" dirty="0"/>
          </a:p>
        </p:txBody>
      </p:sp>
      <p:sp>
        <p:nvSpPr>
          <p:cNvPr id="56" name="Text 54"/>
          <p:cNvSpPr txBox="1"/>
          <p:nvPr/>
        </p:nvSpPr>
        <p:spPr>
          <a:xfrm>
            <a:off x="6711696" y="4471416"/>
            <a:ext cx="4901184" cy="201168"/>
          </a:xfrm>
          <a:prstGeom prst="rect">
            <a:avLst/>
          </a:prstGeom>
          <a:noFill/>
          <a:ln/>
        </p:spPr>
        <p:txBody>
          <a:bodyPr wrap="square" lIns="0" tIns="0" rIns="0" bIns="0" rtlCol="0" anchor="ctr"/>
          <a:lstStyle/>
          <a:p>
            <a:pPr indent="0" marL="0">
              <a:buNone/>
            </a:pPr>
            <a:r>
              <a:rPr lang="en-US" sz="1050" b="1" dirty="0">
                <a:solidFill>
                  <a:srgbClr val="12395C"/>
                </a:solidFill>
                <a:latin typeface="Calibri" pitchFamily="34" charset="0"/>
                <a:ea typeface="Calibri" pitchFamily="34" charset="-122"/>
                <a:cs typeface="Calibri" pitchFamily="34" charset="-120"/>
              </a:rPr>
              <a:t>POST-MORTEM &amp; LEARNING</a:t>
            </a:r>
            <a:endParaRPr lang="en-US" sz="1050" dirty="0"/>
          </a:p>
        </p:txBody>
      </p:sp>
      <p:sp>
        <p:nvSpPr>
          <p:cNvPr id="57" name="Text 55"/>
          <p:cNvSpPr txBox="1"/>
          <p:nvPr/>
        </p:nvSpPr>
        <p:spPr>
          <a:xfrm>
            <a:off x="6711696" y="4672584"/>
            <a:ext cx="4901184" cy="20116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성장 · 마진 · 산업 · 경영진 · 밸류에이션 · 데이터 오류로 분해</a:t>
            </a:r>
            <a:endParaRPr lang="en-US" sz="850" dirty="0"/>
          </a:p>
        </p:txBody>
      </p:sp>
      <p:sp>
        <p:nvSpPr>
          <p:cNvPr id="58" name="Text 56"/>
          <p:cNvSpPr txBox="1"/>
          <p:nvPr/>
        </p:nvSpPr>
        <p:spPr>
          <a:xfrm>
            <a:off x="6711696" y="4855464"/>
            <a:ext cx="4901184" cy="173736"/>
          </a:xfrm>
          <a:prstGeom prst="rect">
            <a:avLst/>
          </a:prstGeom>
          <a:noFill/>
          <a:ln/>
        </p:spPr>
        <p:txBody>
          <a:bodyPr wrap="square" lIns="0" tIns="0" rIns="0" bIns="0" rtlCol="0" anchor="ctr"/>
          <a:lstStyle/>
          <a:p>
            <a:pPr indent="0" marL="0">
              <a:buNone/>
            </a:pPr>
            <a:r>
              <a:rPr lang="en-US" sz="750" b="1" dirty="0">
                <a:solidFill>
                  <a:srgbClr val="A5713C"/>
                </a:solidFill>
                <a:latin typeface="Calibri" pitchFamily="34" charset="0"/>
                <a:ea typeface="Calibri" pitchFamily="34" charset="-122"/>
                <a:cs typeface="Calibri" pitchFamily="34" charset="-120"/>
              </a:rPr>
              <a:t>예측 34건 동결 · 해소 0건</a:t>
            </a:r>
            <a:endParaRPr lang="en-US" sz="750" dirty="0"/>
          </a:p>
        </p:txBody>
      </p:sp>
      <p:sp>
        <p:nvSpPr>
          <p:cNvPr id="59" name="Shape 57"/>
          <p:cNvSpPr/>
          <p:nvPr/>
        </p:nvSpPr>
        <p:spPr>
          <a:xfrm>
            <a:off x="1819656" y="5303520"/>
            <a:ext cx="2514600" cy="347472"/>
          </a:xfrm>
          <a:prstGeom prst="roundRect">
            <a:avLst>
              <a:gd name="adj" fmla="val 13158"/>
            </a:avLst>
          </a:prstGeom>
          <a:solidFill>
            <a:srgbClr val="FFFFFF"/>
          </a:solidFill>
          <a:ln w="12700">
            <a:solidFill>
              <a:srgbClr val="CBD5DF"/>
            </a:solidFill>
            <a:prstDash val="solid"/>
          </a:ln>
        </p:spPr>
      </p:sp>
      <p:sp>
        <p:nvSpPr>
          <p:cNvPr id="60" name="Text 58"/>
          <p:cNvSpPr txBox="1"/>
          <p:nvPr/>
        </p:nvSpPr>
        <p:spPr>
          <a:xfrm>
            <a:off x="1819656" y="5303520"/>
            <a:ext cx="2514600" cy="347472"/>
          </a:xfrm>
          <a:prstGeom prst="rect">
            <a:avLst/>
          </a:prstGeom>
          <a:noFill/>
          <a:ln/>
        </p:spPr>
        <p:txBody>
          <a:bodyPr wrap="square" lIns="0" tIns="0" rIns="0" bIns="0" rtlCol="0" anchor="ctr"/>
          <a:lstStyle/>
          <a:p>
            <a:pPr algn="ctr" indent="0" marL="0">
              <a:buNone/>
            </a:pPr>
            <a:r>
              <a:rPr lang="en-US" sz="950" b="1" spc="40" kern="0" dirty="0">
                <a:solidFill>
                  <a:srgbClr val="0B2239"/>
                </a:solidFill>
                <a:latin typeface="Calibri" pitchFamily="34" charset="0"/>
                <a:ea typeface="Calibri" pitchFamily="34" charset="-122"/>
                <a:cs typeface="Calibri" pitchFamily="34" charset="-120"/>
              </a:rPr>
              <a:t>CURRENT FOUNDATION</a:t>
            </a:r>
            <a:endParaRPr lang="en-US" sz="950" dirty="0"/>
          </a:p>
        </p:txBody>
      </p:sp>
      <p:sp>
        <p:nvSpPr>
          <p:cNvPr id="61" name="Shape 59"/>
          <p:cNvSpPr/>
          <p:nvPr/>
        </p:nvSpPr>
        <p:spPr>
          <a:xfrm>
            <a:off x="4389120" y="5477256"/>
            <a:ext cx="393192" cy="0"/>
          </a:xfrm>
          <a:prstGeom prst="line">
            <a:avLst/>
          </a:prstGeom>
          <a:noFill/>
          <a:ln w="15875">
            <a:solidFill>
              <a:srgbClr val="8494A3"/>
            </a:solidFill>
            <a:prstDash val="solid"/>
            <a:tailEnd type="triangle"/>
          </a:ln>
        </p:spPr>
      </p:sp>
      <p:sp>
        <p:nvSpPr>
          <p:cNvPr id="62" name="Shape 60"/>
          <p:cNvSpPr/>
          <p:nvPr/>
        </p:nvSpPr>
        <p:spPr>
          <a:xfrm>
            <a:off x="4837176" y="5303520"/>
            <a:ext cx="2514600" cy="347472"/>
          </a:xfrm>
          <a:prstGeom prst="roundRect">
            <a:avLst>
              <a:gd name="adj" fmla="val 13158"/>
            </a:avLst>
          </a:prstGeom>
          <a:solidFill>
            <a:srgbClr val="FFFFFF"/>
          </a:solidFill>
          <a:ln w="12700">
            <a:solidFill>
              <a:srgbClr val="CBD5DF"/>
            </a:solidFill>
            <a:prstDash val="solid"/>
          </a:ln>
        </p:spPr>
      </p:sp>
      <p:sp>
        <p:nvSpPr>
          <p:cNvPr id="63" name="Text 61"/>
          <p:cNvSpPr txBox="1"/>
          <p:nvPr/>
        </p:nvSpPr>
        <p:spPr>
          <a:xfrm>
            <a:off x="4837176" y="5303520"/>
            <a:ext cx="2514600" cy="347472"/>
          </a:xfrm>
          <a:prstGeom prst="rect">
            <a:avLst/>
          </a:prstGeom>
          <a:noFill/>
          <a:ln/>
        </p:spPr>
        <p:txBody>
          <a:bodyPr wrap="square" lIns="0" tIns="0" rIns="0" bIns="0" rtlCol="0" anchor="ctr"/>
          <a:lstStyle/>
          <a:p>
            <a:pPr algn="ctr" indent="0" marL="0">
              <a:buNone/>
            </a:pPr>
            <a:r>
              <a:rPr lang="en-US" sz="950" b="1" spc="40" kern="0" dirty="0">
                <a:solidFill>
                  <a:srgbClr val="0B2239"/>
                </a:solidFill>
                <a:latin typeface="Calibri" pitchFamily="34" charset="0"/>
                <a:ea typeface="Calibri" pitchFamily="34" charset="-122"/>
                <a:cs typeface="Calibri" pitchFamily="34" charset="-120"/>
              </a:rPr>
              <a:t>RESEARCH OS LAYER</a:t>
            </a:r>
            <a:endParaRPr lang="en-US" sz="950" dirty="0"/>
          </a:p>
        </p:txBody>
      </p:sp>
      <p:sp>
        <p:nvSpPr>
          <p:cNvPr id="64" name="Shape 62"/>
          <p:cNvSpPr/>
          <p:nvPr/>
        </p:nvSpPr>
        <p:spPr>
          <a:xfrm>
            <a:off x="7406640" y="5477256"/>
            <a:ext cx="393192" cy="0"/>
          </a:xfrm>
          <a:prstGeom prst="line">
            <a:avLst/>
          </a:prstGeom>
          <a:noFill/>
          <a:ln w="15875">
            <a:solidFill>
              <a:srgbClr val="8494A3"/>
            </a:solidFill>
            <a:prstDash val="solid"/>
            <a:tailEnd type="triangle"/>
          </a:ln>
        </p:spPr>
      </p:sp>
      <p:sp>
        <p:nvSpPr>
          <p:cNvPr id="65" name="Shape 63"/>
          <p:cNvSpPr/>
          <p:nvPr/>
        </p:nvSpPr>
        <p:spPr>
          <a:xfrm>
            <a:off x="7854696" y="5303520"/>
            <a:ext cx="2514600" cy="347472"/>
          </a:xfrm>
          <a:prstGeom prst="roundRect">
            <a:avLst>
              <a:gd name="adj" fmla="val 13158"/>
            </a:avLst>
          </a:prstGeom>
          <a:solidFill>
            <a:srgbClr val="12395C"/>
          </a:solidFill>
          <a:ln w="12700">
            <a:solidFill>
              <a:srgbClr val="12395C"/>
            </a:solidFill>
            <a:prstDash val="solid"/>
          </a:ln>
        </p:spPr>
      </p:sp>
      <p:sp>
        <p:nvSpPr>
          <p:cNvPr id="66" name="Text 64"/>
          <p:cNvSpPr txBox="1"/>
          <p:nvPr/>
        </p:nvSpPr>
        <p:spPr>
          <a:xfrm>
            <a:off x="7854696" y="5303520"/>
            <a:ext cx="2514600" cy="347472"/>
          </a:xfrm>
          <a:prstGeom prst="rect">
            <a:avLst/>
          </a:prstGeom>
          <a:noFill/>
          <a:ln/>
        </p:spPr>
        <p:txBody>
          <a:bodyPr wrap="square" lIns="0" tIns="0" rIns="0" bIns="0" rtlCol="0" anchor="ctr"/>
          <a:lstStyle/>
          <a:p>
            <a:pPr algn="ctr" indent="0" marL="0">
              <a:buNone/>
            </a:pPr>
            <a:r>
              <a:rPr lang="en-US" sz="950" b="1" spc="40" kern="0" dirty="0">
                <a:solidFill>
                  <a:srgbClr val="FFFFFF"/>
                </a:solidFill>
                <a:latin typeface="Calibri" pitchFamily="34" charset="0"/>
                <a:ea typeface="Calibri" pitchFamily="34" charset="-122"/>
                <a:cs typeface="Calibri" pitchFamily="34" charset="-120"/>
              </a:rPr>
              <a:t>CONTINUOUS INVESTMENT LOOP</a:t>
            </a:r>
            <a:endParaRPr lang="en-US" sz="950" dirty="0"/>
          </a:p>
        </p:txBody>
      </p:sp>
      <p:sp>
        <p:nvSpPr>
          <p:cNvPr id="67" name="Shape 65"/>
          <p:cNvSpPr/>
          <p:nvPr/>
        </p:nvSpPr>
        <p:spPr>
          <a:xfrm>
            <a:off x="411480" y="5852160"/>
            <a:ext cx="11365992" cy="548640"/>
          </a:xfrm>
          <a:prstGeom prst="roundRect">
            <a:avLst>
              <a:gd name="adj" fmla="val 8333"/>
            </a:avLst>
          </a:prstGeom>
          <a:solidFill>
            <a:srgbClr val="F4F7FA"/>
          </a:solidFill>
          <a:ln w="12700">
            <a:solidFill>
              <a:srgbClr val="F4F7FA"/>
            </a:solidFill>
            <a:prstDash val="solid"/>
          </a:ln>
        </p:spPr>
      </p:sp>
      <p:sp>
        <p:nvSpPr>
          <p:cNvPr id="68" name="Text 66"/>
          <p:cNvSpPr txBox="1"/>
          <p:nvPr/>
        </p:nvSpPr>
        <p:spPr>
          <a:xfrm>
            <a:off x="685800" y="5852160"/>
            <a:ext cx="10817352" cy="548640"/>
          </a:xfrm>
          <a:prstGeom prst="rect">
            <a:avLst/>
          </a:prstGeom>
          <a:noFill/>
          <a:ln/>
        </p:spPr>
        <p:txBody>
          <a:bodyPr wrap="square" lIns="0" tIns="0" rIns="0" bIns="0" rtlCol="0" anchor="ctr"/>
          <a:lstStyle/>
          <a:p>
            <a:pPr indent="0" marL="0">
              <a:buNone/>
            </a:pPr>
            <a:r>
              <a:rPr lang="en-US" sz="1150" b="1" dirty="0">
                <a:solidFill>
                  <a:srgbClr val="0B2239"/>
                </a:solidFill>
                <a:latin typeface="Calibri" pitchFamily="34" charset="0"/>
                <a:ea typeface="Calibri" pitchFamily="34" charset="-122"/>
                <a:cs typeface="Calibri" pitchFamily="34" charset="-120"/>
              </a:rPr>
              <a:t>현재 IRS는 강한 Analytical &amp; Validation Foundation을 갖추고 있다.  다음 단계는 더 많은 지표를 추가하는 것이 아니라 Research → Decision → Monitoring → Learning Loop를 완성하는 것이다.</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11365992" cy="493776"/>
          </a:xfrm>
          <a:prstGeom prst="rect">
            <a:avLst/>
          </a:prstGeom>
          <a:noFill/>
          <a:ln/>
        </p:spPr>
        <p:txBody>
          <a:bodyPr wrap="square" lIns="0" tIns="0" rIns="0" bIns="0" rtlCol="0" anchor="ctr"/>
          <a:lstStyle/>
          <a:p>
            <a:pPr indent="0" marL="0">
              <a:buNone/>
            </a:pPr>
            <a:r>
              <a:rPr lang="en-US" sz="2500" b="1" dirty="0">
                <a:solidFill>
                  <a:srgbClr val="0B2239"/>
                </a:solidFill>
                <a:latin typeface="Cambria" pitchFamily="34" charset="0"/>
                <a:ea typeface="Cambria" pitchFamily="34" charset="-122"/>
                <a:cs typeface="Cambria" pitchFamily="34" charset="-120"/>
              </a:rPr>
              <a:t>IRS Realization Roadmap</a:t>
            </a:r>
            <a:endParaRPr lang="en-US" sz="2500" dirty="0"/>
          </a:p>
        </p:txBody>
      </p:sp>
      <p:sp>
        <p:nvSpPr>
          <p:cNvPr id="3" name="Text 1"/>
          <p:cNvSpPr txBox="1"/>
          <p:nvPr/>
        </p:nvSpPr>
        <p:spPr>
          <a:xfrm>
            <a:off x="411480" y="768096"/>
            <a:ext cx="10424160" cy="27432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Close the Investment Loop Before Adding Analytical Complexity</a:t>
            </a:r>
            <a:endParaRPr lang="en-US" sz="1200" dirty="0"/>
          </a:p>
        </p:txBody>
      </p:sp>
      <p:sp>
        <p:nvSpPr>
          <p:cNvPr id="4" name="Shape 2"/>
          <p:cNvSpPr/>
          <p:nvPr/>
        </p:nvSpPr>
        <p:spPr>
          <a:xfrm>
            <a:off x="411480" y="1298448"/>
            <a:ext cx="3715512" cy="3127248"/>
          </a:xfrm>
          <a:prstGeom prst="roundRect">
            <a:avLst>
              <a:gd name="adj" fmla="val 1754"/>
            </a:avLst>
          </a:prstGeom>
          <a:solidFill>
            <a:srgbClr val="FFFFFF"/>
          </a:solidFill>
          <a:ln w="12700">
            <a:solidFill>
              <a:srgbClr val="CBD5DF"/>
            </a:solidFill>
            <a:prstDash val="solid"/>
          </a:ln>
        </p:spPr>
      </p:sp>
      <p:sp>
        <p:nvSpPr>
          <p:cNvPr id="5" name="Shape 3"/>
          <p:cNvSpPr/>
          <p:nvPr/>
        </p:nvSpPr>
        <p:spPr>
          <a:xfrm>
            <a:off x="612648" y="1499616"/>
            <a:ext cx="475488" cy="274320"/>
          </a:xfrm>
          <a:prstGeom prst="roundRect">
            <a:avLst>
              <a:gd name="adj" fmla="val 16667"/>
            </a:avLst>
          </a:prstGeom>
          <a:solidFill>
            <a:srgbClr val="12395C"/>
          </a:solidFill>
          <a:ln w="12700">
            <a:solidFill>
              <a:srgbClr val="12395C"/>
            </a:solidFill>
            <a:prstDash val="solid"/>
          </a:ln>
        </p:spPr>
      </p:sp>
      <p:sp>
        <p:nvSpPr>
          <p:cNvPr id="6" name="Text 4"/>
          <p:cNvSpPr txBox="1"/>
          <p:nvPr/>
        </p:nvSpPr>
        <p:spPr>
          <a:xfrm>
            <a:off x="612648" y="1499616"/>
            <a:ext cx="47548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P0</a:t>
            </a:r>
            <a:endParaRPr lang="en-US" sz="1200" dirty="0"/>
          </a:p>
        </p:txBody>
      </p:sp>
      <p:sp>
        <p:nvSpPr>
          <p:cNvPr id="7" name="Text 5"/>
          <p:cNvSpPr txBox="1"/>
          <p:nvPr/>
        </p:nvSpPr>
        <p:spPr>
          <a:xfrm>
            <a:off x="1197864" y="1517904"/>
            <a:ext cx="2727960" cy="237744"/>
          </a:xfrm>
          <a:prstGeom prst="rect">
            <a:avLst/>
          </a:prstGeom>
          <a:noFill/>
          <a:ln/>
        </p:spPr>
        <p:txBody>
          <a:bodyPr wrap="square" lIns="0" tIns="0" rIns="0" bIns="0" rtlCol="0" anchor="ctr"/>
          <a:lstStyle/>
          <a:p>
            <a:pPr indent="0" marL="0">
              <a:buNone/>
            </a:pPr>
            <a:r>
              <a:rPr lang="en-US" sz="1250" b="1" dirty="0">
                <a:solidFill>
                  <a:srgbClr val="0B2239"/>
                </a:solidFill>
                <a:latin typeface="Calibri" pitchFamily="34" charset="0"/>
                <a:ea typeface="Calibri" pitchFamily="34" charset="-122"/>
                <a:cs typeface="Calibri" pitchFamily="34" charset="-120"/>
              </a:rPr>
              <a:t>CLOSE THE LOOP</a:t>
            </a:r>
            <a:endParaRPr lang="en-US" sz="1250" dirty="0"/>
          </a:p>
        </p:txBody>
      </p:sp>
      <p:sp>
        <p:nvSpPr>
          <p:cNvPr id="8" name="Text 6"/>
          <p:cNvSpPr txBox="1"/>
          <p:nvPr/>
        </p:nvSpPr>
        <p:spPr>
          <a:xfrm>
            <a:off x="1197864" y="1755648"/>
            <a:ext cx="2727960" cy="182880"/>
          </a:xfrm>
          <a:prstGeom prst="rect">
            <a:avLst/>
          </a:prstGeom>
          <a:noFill/>
          <a:ln/>
        </p:spPr>
        <p:txBody>
          <a:bodyPr wrap="square" lIns="0" tIns="0" rIns="0" bIns="0" rtlCol="0" anchor="ctr"/>
          <a:lstStyle/>
          <a:p>
            <a:pPr indent="0" marL="0">
              <a:buNone/>
            </a:pPr>
            <a:r>
              <a:rPr lang="en-US" sz="850" b="1" dirty="0">
                <a:solidFill>
                  <a:srgbClr val="12395C"/>
                </a:solidFill>
                <a:latin typeface="Calibri" pitchFamily="34" charset="0"/>
                <a:ea typeface="Calibri" pitchFamily="34" charset="-122"/>
                <a:cs typeface="Calibri" pitchFamily="34" charset="-120"/>
              </a:rPr>
              <a:t>최우선</a:t>
            </a:r>
            <a:endParaRPr lang="en-US" sz="850" dirty="0"/>
          </a:p>
        </p:txBody>
      </p:sp>
      <p:sp>
        <p:nvSpPr>
          <p:cNvPr id="9" name="Text 7"/>
          <p:cNvSpPr txBox="1"/>
          <p:nvPr/>
        </p:nvSpPr>
        <p:spPr>
          <a:xfrm>
            <a:off x="630936" y="2139696"/>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1</a:t>
            </a:r>
            <a:endParaRPr lang="en-US" sz="900" dirty="0"/>
          </a:p>
        </p:txBody>
      </p:sp>
      <p:sp>
        <p:nvSpPr>
          <p:cNvPr id="10" name="Text 8"/>
          <p:cNvSpPr txBox="1"/>
          <p:nvPr/>
        </p:nvSpPr>
        <p:spPr>
          <a:xfrm>
            <a:off x="886968" y="2139696"/>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Research Pack</a:t>
            </a:r>
            <a:endParaRPr lang="en-US" sz="1000" dirty="0"/>
          </a:p>
        </p:txBody>
      </p:sp>
      <p:sp>
        <p:nvSpPr>
          <p:cNvPr id="11" name="Text 9"/>
          <p:cNvSpPr txBox="1"/>
          <p:nvPr/>
        </p:nvSpPr>
        <p:spPr>
          <a:xfrm>
            <a:off x="630936" y="2446020"/>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2</a:t>
            </a:r>
            <a:endParaRPr lang="en-US" sz="900" dirty="0"/>
          </a:p>
        </p:txBody>
      </p:sp>
      <p:sp>
        <p:nvSpPr>
          <p:cNvPr id="12" name="Text 10"/>
          <p:cNvSpPr txBox="1"/>
          <p:nvPr/>
        </p:nvSpPr>
        <p:spPr>
          <a:xfrm>
            <a:off x="886968" y="2446020"/>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Thesis Schema / Database</a:t>
            </a:r>
            <a:endParaRPr lang="en-US" sz="1000" dirty="0"/>
          </a:p>
        </p:txBody>
      </p:sp>
      <p:sp>
        <p:nvSpPr>
          <p:cNvPr id="13" name="Text 11"/>
          <p:cNvSpPr txBox="1"/>
          <p:nvPr/>
        </p:nvSpPr>
        <p:spPr>
          <a:xfrm>
            <a:off x="630936" y="2752344"/>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3</a:t>
            </a:r>
            <a:endParaRPr lang="en-US" sz="900" dirty="0"/>
          </a:p>
        </p:txBody>
      </p:sp>
      <p:sp>
        <p:nvSpPr>
          <p:cNvPr id="14" name="Text 12"/>
          <p:cNvSpPr txBox="1"/>
          <p:nvPr/>
        </p:nvSpPr>
        <p:spPr>
          <a:xfrm>
            <a:off x="886968" y="2752344"/>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Watchlist ↔ Thesis 연결</a:t>
            </a:r>
            <a:endParaRPr lang="en-US" sz="1000" dirty="0"/>
          </a:p>
        </p:txBody>
      </p:sp>
      <p:sp>
        <p:nvSpPr>
          <p:cNvPr id="15" name="Text 13"/>
          <p:cNvSpPr txBox="1"/>
          <p:nvPr/>
        </p:nvSpPr>
        <p:spPr>
          <a:xfrm>
            <a:off x="630936" y="3058668"/>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4</a:t>
            </a:r>
            <a:endParaRPr lang="en-US" sz="900" dirty="0"/>
          </a:p>
        </p:txBody>
      </p:sp>
      <p:sp>
        <p:nvSpPr>
          <p:cNvPr id="16" name="Text 14"/>
          <p:cNvSpPr txBox="1"/>
          <p:nvPr/>
        </p:nvSpPr>
        <p:spPr>
          <a:xfrm>
            <a:off x="886968" y="3058668"/>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Thesis Change Detection</a:t>
            </a:r>
            <a:endParaRPr lang="en-US" sz="1000" dirty="0"/>
          </a:p>
        </p:txBody>
      </p:sp>
      <p:sp>
        <p:nvSpPr>
          <p:cNvPr id="17" name="Text 15"/>
          <p:cNvSpPr txBox="1"/>
          <p:nvPr/>
        </p:nvSpPr>
        <p:spPr>
          <a:xfrm>
            <a:off x="630936" y="3364992"/>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5</a:t>
            </a:r>
            <a:endParaRPr lang="en-US" sz="900" dirty="0"/>
          </a:p>
        </p:txBody>
      </p:sp>
      <p:sp>
        <p:nvSpPr>
          <p:cNvPr id="18" name="Text 16"/>
          <p:cNvSpPr txBox="1"/>
          <p:nvPr/>
        </p:nvSpPr>
        <p:spPr>
          <a:xfrm>
            <a:off x="886968" y="3364992"/>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Human Decision Record</a:t>
            </a:r>
            <a:endParaRPr lang="en-US" sz="1000" dirty="0"/>
          </a:p>
        </p:txBody>
      </p:sp>
      <p:sp>
        <p:nvSpPr>
          <p:cNvPr id="19" name="Shape 17"/>
          <p:cNvSpPr/>
          <p:nvPr/>
        </p:nvSpPr>
        <p:spPr>
          <a:xfrm>
            <a:off x="612648" y="3767328"/>
            <a:ext cx="3313176" cy="475488"/>
          </a:xfrm>
          <a:prstGeom prst="roundRect">
            <a:avLst>
              <a:gd name="adj" fmla="val 9615"/>
            </a:avLst>
          </a:prstGeom>
          <a:solidFill>
            <a:srgbClr val="F4F7FA"/>
          </a:solidFill>
          <a:ln w="12700">
            <a:solidFill>
              <a:srgbClr val="F4F7FA"/>
            </a:solidFill>
            <a:prstDash val="solid"/>
          </a:ln>
        </p:spPr>
      </p:sp>
      <p:sp>
        <p:nvSpPr>
          <p:cNvPr id="20" name="Text 18"/>
          <p:cNvSpPr txBox="1"/>
          <p:nvPr/>
        </p:nvSpPr>
        <p:spPr>
          <a:xfrm>
            <a:off x="722376" y="3767328"/>
            <a:ext cx="3093720" cy="47548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IRS가 실제 투자 workflow에서 매일 사용되도록 만든다.</a:t>
            </a:r>
            <a:endParaRPr lang="en-US" sz="850" dirty="0"/>
          </a:p>
        </p:txBody>
      </p:sp>
      <p:sp>
        <p:nvSpPr>
          <p:cNvPr id="21" name="Shape 19"/>
          <p:cNvSpPr/>
          <p:nvPr/>
        </p:nvSpPr>
        <p:spPr>
          <a:xfrm>
            <a:off x="4236720" y="1298448"/>
            <a:ext cx="3715512" cy="3127248"/>
          </a:xfrm>
          <a:prstGeom prst="roundRect">
            <a:avLst>
              <a:gd name="adj" fmla="val 1754"/>
            </a:avLst>
          </a:prstGeom>
          <a:solidFill>
            <a:srgbClr val="FFFFFF"/>
          </a:solidFill>
          <a:ln w="12700">
            <a:solidFill>
              <a:srgbClr val="CBD5DF"/>
            </a:solidFill>
            <a:prstDash val="solid"/>
          </a:ln>
        </p:spPr>
      </p:sp>
      <p:sp>
        <p:nvSpPr>
          <p:cNvPr id="22" name="Shape 20"/>
          <p:cNvSpPr/>
          <p:nvPr/>
        </p:nvSpPr>
        <p:spPr>
          <a:xfrm>
            <a:off x="4437888" y="1499616"/>
            <a:ext cx="475488" cy="274320"/>
          </a:xfrm>
          <a:prstGeom prst="roundRect">
            <a:avLst>
              <a:gd name="adj" fmla="val 16667"/>
            </a:avLst>
          </a:prstGeom>
          <a:solidFill>
            <a:srgbClr val="0E7C86"/>
          </a:solidFill>
          <a:ln w="12700">
            <a:solidFill>
              <a:srgbClr val="0E7C86"/>
            </a:solidFill>
            <a:prstDash val="solid"/>
          </a:ln>
        </p:spPr>
      </p:sp>
      <p:sp>
        <p:nvSpPr>
          <p:cNvPr id="23" name="Text 21"/>
          <p:cNvSpPr txBox="1"/>
          <p:nvPr/>
        </p:nvSpPr>
        <p:spPr>
          <a:xfrm>
            <a:off x="4437888" y="1499616"/>
            <a:ext cx="47548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24" name="Text 22"/>
          <p:cNvSpPr txBox="1"/>
          <p:nvPr/>
        </p:nvSpPr>
        <p:spPr>
          <a:xfrm>
            <a:off x="5023104" y="1517904"/>
            <a:ext cx="2727960" cy="237744"/>
          </a:xfrm>
          <a:prstGeom prst="rect">
            <a:avLst/>
          </a:prstGeom>
          <a:noFill/>
          <a:ln/>
        </p:spPr>
        <p:txBody>
          <a:bodyPr wrap="square" lIns="0" tIns="0" rIns="0" bIns="0" rtlCol="0" anchor="ctr"/>
          <a:lstStyle/>
          <a:p>
            <a:pPr indent="0" marL="0">
              <a:buNone/>
            </a:pPr>
            <a:r>
              <a:rPr lang="en-US" sz="1250" b="1" dirty="0">
                <a:solidFill>
                  <a:srgbClr val="0B2239"/>
                </a:solidFill>
                <a:latin typeface="Calibri" pitchFamily="34" charset="0"/>
                <a:ea typeface="Calibri" pitchFamily="34" charset="-122"/>
                <a:cs typeface="Calibri" pitchFamily="34" charset="-120"/>
              </a:rPr>
              <a:t>VALIDATE THROUGH TIME</a:t>
            </a:r>
            <a:endParaRPr lang="en-US" sz="1250" dirty="0"/>
          </a:p>
        </p:txBody>
      </p:sp>
      <p:sp>
        <p:nvSpPr>
          <p:cNvPr id="25" name="Text 23"/>
          <p:cNvSpPr txBox="1"/>
          <p:nvPr/>
        </p:nvSpPr>
        <p:spPr>
          <a:xfrm>
            <a:off x="5023104" y="1755648"/>
            <a:ext cx="2727960" cy="182880"/>
          </a:xfrm>
          <a:prstGeom prst="rect">
            <a:avLst/>
          </a:prstGeom>
          <a:noFill/>
          <a:ln/>
        </p:spPr>
        <p:txBody>
          <a:bodyPr wrap="square" lIns="0" tIns="0" rIns="0" bIns="0" rtlCol="0" anchor="ctr"/>
          <a:lstStyle/>
          <a:p>
            <a:pPr indent="0" marL="0">
              <a:buNone/>
            </a:pPr>
            <a:r>
              <a:rPr lang="en-US" sz="850" b="1" dirty="0">
                <a:solidFill>
                  <a:srgbClr val="0E7C86"/>
                </a:solidFill>
                <a:latin typeface="Calibri" pitchFamily="34" charset="0"/>
                <a:ea typeface="Calibri" pitchFamily="34" charset="-122"/>
                <a:cs typeface="Calibri" pitchFamily="34" charset="-120"/>
              </a:rPr>
              <a:t>그 다음</a:t>
            </a:r>
            <a:endParaRPr lang="en-US" sz="850" dirty="0"/>
          </a:p>
        </p:txBody>
      </p:sp>
      <p:sp>
        <p:nvSpPr>
          <p:cNvPr id="26" name="Text 24"/>
          <p:cNvSpPr txBox="1"/>
          <p:nvPr/>
        </p:nvSpPr>
        <p:spPr>
          <a:xfrm>
            <a:off x="4456176" y="2139696"/>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1</a:t>
            </a:r>
            <a:endParaRPr lang="en-US" sz="900" dirty="0"/>
          </a:p>
        </p:txBody>
      </p:sp>
      <p:sp>
        <p:nvSpPr>
          <p:cNvPr id="27" name="Text 25"/>
          <p:cNvSpPr txBox="1"/>
          <p:nvPr/>
        </p:nvSpPr>
        <p:spPr>
          <a:xfrm>
            <a:off x="4712208" y="2139696"/>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Point-in-Time Backtesting</a:t>
            </a:r>
            <a:endParaRPr lang="en-US" sz="1000" dirty="0"/>
          </a:p>
        </p:txBody>
      </p:sp>
      <p:sp>
        <p:nvSpPr>
          <p:cNvPr id="28" name="Text 26"/>
          <p:cNvSpPr txBox="1"/>
          <p:nvPr/>
        </p:nvSpPr>
        <p:spPr>
          <a:xfrm>
            <a:off x="4456176" y="2446020"/>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2</a:t>
            </a:r>
            <a:endParaRPr lang="en-US" sz="900" dirty="0"/>
          </a:p>
        </p:txBody>
      </p:sp>
      <p:sp>
        <p:nvSpPr>
          <p:cNvPr id="29" name="Text 27"/>
          <p:cNvSpPr txBox="1"/>
          <p:nvPr/>
        </p:nvSpPr>
        <p:spPr>
          <a:xfrm>
            <a:off x="4712208" y="2446020"/>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Decision Ledger</a:t>
            </a:r>
            <a:endParaRPr lang="en-US" sz="1000" dirty="0"/>
          </a:p>
        </p:txBody>
      </p:sp>
      <p:sp>
        <p:nvSpPr>
          <p:cNvPr id="30" name="Text 28"/>
          <p:cNvSpPr txBox="1"/>
          <p:nvPr/>
        </p:nvSpPr>
        <p:spPr>
          <a:xfrm>
            <a:off x="4456176" y="2752344"/>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3</a:t>
            </a:r>
            <a:endParaRPr lang="en-US" sz="900" dirty="0"/>
          </a:p>
        </p:txBody>
      </p:sp>
      <p:sp>
        <p:nvSpPr>
          <p:cNvPr id="31" name="Text 29"/>
          <p:cNvSpPr txBox="1"/>
          <p:nvPr/>
        </p:nvSpPr>
        <p:spPr>
          <a:xfrm>
            <a:off x="4712208" y="2752344"/>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Prediction vs Outcome</a:t>
            </a:r>
            <a:endParaRPr lang="en-US" sz="1000" dirty="0"/>
          </a:p>
        </p:txBody>
      </p:sp>
      <p:sp>
        <p:nvSpPr>
          <p:cNvPr id="32" name="Text 30"/>
          <p:cNvSpPr txBox="1"/>
          <p:nvPr/>
        </p:nvSpPr>
        <p:spPr>
          <a:xfrm>
            <a:off x="4456176" y="3058668"/>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4</a:t>
            </a:r>
            <a:endParaRPr lang="en-US" sz="900" dirty="0"/>
          </a:p>
        </p:txBody>
      </p:sp>
      <p:sp>
        <p:nvSpPr>
          <p:cNvPr id="33" name="Text 31"/>
          <p:cNvSpPr txBox="1"/>
          <p:nvPr/>
        </p:nvSpPr>
        <p:spPr>
          <a:xfrm>
            <a:off x="4712208" y="3058668"/>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Attribution</a:t>
            </a:r>
            <a:endParaRPr lang="en-US" sz="1000" dirty="0"/>
          </a:p>
        </p:txBody>
      </p:sp>
      <p:sp>
        <p:nvSpPr>
          <p:cNvPr id="34" name="Text 32"/>
          <p:cNvSpPr txBox="1"/>
          <p:nvPr/>
        </p:nvSpPr>
        <p:spPr>
          <a:xfrm>
            <a:off x="4456176" y="3364992"/>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5</a:t>
            </a:r>
            <a:endParaRPr lang="en-US" sz="900" dirty="0"/>
          </a:p>
        </p:txBody>
      </p:sp>
      <p:sp>
        <p:nvSpPr>
          <p:cNvPr id="35" name="Text 33"/>
          <p:cNvSpPr txBox="1"/>
          <p:nvPr/>
        </p:nvSpPr>
        <p:spPr>
          <a:xfrm>
            <a:off x="4712208" y="3364992"/>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Post-Mortem</a:t>
            </a:r>
            <a:endParaRPr lang="en-US" sz="1000" dirty="0"/>
          </a:p>
        </p:txBody>
      </p:sp>
      <p:sp>
        <p:nvSpPr>
          <p:cNvPr id="36" name="Shape 34"/>
          <p:cNvSpPr/>
          <p:nvPr/>
        </p:nvSpPr>
        <p:spPr>
          <a:xfrm>
            <a:off x="4437888" y="3767328"/>
            <a:ext cx="3313176" cy="475488"/>
          </a:xfrm>
          <a:prstGeom prst="roundRect">
            <a:avLst>
              <a:gd name="adj" fmla="val 9615"/>
            </a:avLst>
          </a:prstGeom>
          <a:solidFill>
            <a:srgbClr val="F4F7FA"/>
          </a:solidFill>
          <a:ln w="12700">
            <a:solidFill>
              <a:srgbClr val="F4F7FA"/>
            </a:solidFill>
            <a:prstDash val="solid"/>
          </a:ln>
        </p:spPr>
      </p:sp>
      <p:sp>
        <p:nvSpPr>
          <p:cNvPr id="37" name="Text 35"/>
          <p:cNvSpPr txBox="1"/>
          <p:nvPr/>
        </p:nvSpPr>
        <p:spPr>
          <a:xfrm>
            <a:off x="4547616" y="3767328"/>
            <a:ext cx="3093720" cy="47548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과거에 무엇을 판단했고 실제로 어떻게 되었는지를 측정한다.</a:t>
            </a:r>
            <a:endParaRPr lang="en-US" sz="850" dirty="0"/>
          </a:p>
        </p:txBody>
      </p:sp>
      <p:sp>
        <p:nvSpPr>
          <p:cNvPr id="38" name="Shape 36"/>
          <p:cNvSpPr/>
          <p:nvPr/>
        </p:nvSpPr>
        <p:spPr>
          <a:xfrm>
            <a:off x="8061960" y="1298448"/>
            <a:ext cx="3715512" cy="3127248"/>
          </a:xfrm>
          <a:prstGeom prst="roundRect">
            <a:avLst>
              <a:gd name="adj" fmla="val 1754"/>
            </a:avLst>
          </a:prstGeom>
          <a:solidFill>
            <a:srgbClr val="FFFFFF"/>
          </a:solidFill>
          <a:ln w="12700">
            <a:solidFill>
              <a:srgbClr val="CBD5DF"/>
            </a:solidFill>
            <a:prstDash val="solid"/>
          </a:ln>
        </p:spPr>
      </p:sp>
      <p:sp>
        <p:nvSpPr>
          <p:cNvPr id="39" name="Shape 37"/>
          <p:cNvSpPr/>
          <p:nvPr/>
        </p:nvSpPr>
        <p:spPr>
          <a:xfrm>
            <a:off x="8263128" y="1499616"/>
            <a:ext cx="475488" cy="274320"/>
          </a:xfrm>
          <a:prstGeom prst="roundRect">
            <a:avLst>
              <a:gd name="adj" fmla="val 16667"/>
            </a:avLst>
          </a:prstGeom>
          <a:solidFill>
            <a:srgbClr val="2F7D5D"/>
          </a:solidFill>
          <a:ln w="12700">
            <a:solidFill>
              <a:srgbClr val="2F7D5D"/>
            </a:solidFill>
            <a:prstDash val="solid"/>
          </a:ln>
        </p:spPr>
      </p:sp>
      <p:sp>
        <p:nvSpPr>
          <p:cNvPr id="40" name="Text 38"/>
          <p:cNvSpPr txBox="1"/>
          <p:nvPr/>
        </p:nvSpPr>
        <p:spPr>
          <a:xfrm>
            <a:off x="8263128" y="1499616"/>
            <a:ext cx="47548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41" name="Text 39"/>
          <p:cNvSpPr txBox="1"/>
          <p:nvPr/>
        </p:nvSpPr>
        <p:spPr>
          <a:xfrm>
            <a:off x="8848344" y="1517904"/>
            <a:ext cx="2727960" cy="237744"/>
          </a:xfrm>
          <a:prstGeom prst="rect">
            <a:avLst/>
          </a:prstGeom>
          <a:noFill/>
          <a:ln/>
        </p:spPr>
        <p:txBody>
          <a:bodyPr wrap="square" lIns="0" tIns="0" rIns="0" bIns="0" rtlCol="0" anchor="ctr"/>
          <a:lstStyle/>
          <a:p>
            <a:pPr indent="0" marL="0">
              <a:buNone/>
            </a:pPr>
            <a:r>
              <a:rPr lang="en-US" sz="1250" b="1" dirty="0">
                <a:solidFill>
                  <a:srgbClr val="0B2239"/>
                </a:solidFill>
                <a:latin typeface="Calibri" pitchFamily="34" charset="0"/>
                <a:ea typeface="Calibri" pitchFamily="34" charset="-122"/>
                <a:cs typeface="Calibri" pitchFamily="34" charset="-120"/>
              </a:rPr>
              <a:t>DEEPEN ANALYTICS</a:t>
            </a:r>
            <a:endParaRPr lang="en-US" sz="1250" dirty="0"/>
          </a:p>
        </p:txBody>
      </p:sp>
      <p:sp>
        <p:nvSpPr>
          <p:cNvPr id="42" name="Text 40"/>
          <p:cNvSpPr txBox="1"/>
          <p:nvPr/>
        </p:nvSpPr>
        <p:spPr>
          <a:xfrm>
            <a:off x="8848344" y="1755648"/>
            <a:ext cx="2727960" cy="182880"/>
          </a:xfrm>
          <a:prstGeom prst="rect">
            <a:avLst/>
          </a:prstGeom>
          <a:noFill/>
          <a:ln/>
        </p:spPr>
        <p:txBody>
          <a:bodyPr wrap="square" lIns="0" tIns="0" rIns="0" bIns="0" rtlCol="0" anchor="ctr"/>
          <a:lstStyle/>
          <a:p>
            <a:pPr indent="0" marL="0">
              <a:buNone/>
            </a:pPr>
            <a:r>
              <a:rPr lang="en-US" sz="850" b="1" dirty="0">
                <a:solidFill>
                  <a:srgbClr val="2F7D5D"/>
                </a:solidFill>
                <a:latin typeface="Calibri" pitchFamily="34" charset="0"/>
                <a:ea typeface="Calibri" pitchFamily="34" charset="-122"/>
                <a:cs typeface="Calibri" pitchFamily="34" charset="-120"/>
              </a:rPr>
              <a:t>P0 / P1 이후</a:t>
            </a:r>
            <a:endParaRPr lang="en-US" sz="850" dirty="0"/>
          </a:p>
        </p:txBody>
      </p:sp>
      <p:sp>
        <p:nvSpPr>
          <p:cNvPr id="43" name="Text 41"/>
          <p:cNvSpPr txBox="1"/>
          <p:nvPr/>
        </p:nvSpPr>
        <p:spPr>
          <a:xfrm>
            <a:off x="8281416" y="2139696"/>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1</a:t>
            </a:r>
            <a:endParaRPr lang="en-US" sz="900" dirty="0"/>
          </a:p>
        </p:txBody>
      </p:sp>
      <p:sp>
        <p:nvSpPr>
          <p:cNvPr id="44" name="Text 42"/>
          <p:cNvSpPr txBox="1"/>
          <p:nvPr/>
        </p:nvSpPr>
        <p:spPr>
          <a:xfrm>
            <a:off x="8537448" y="2139696"/>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Accounting Quality L2 / L3</a:t>
            </a:r>
            <a:endParaRPr lang="en-US" sz="1000" dirty="0"/>
          </a:p>
        </p:txBody>
      </p:sp>
      <p:sp>
        <p:nvSpPr>
          <p:cNvPr id="45" name="Text 43"/>
          <p:cNvSpPr txBox="1"/>
          <p:nvPr/>
        </p:nvSpPr>
        <p:spPr>
          <a:xfrm>
            <a:off x="8281416" y="2446020"/>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2</a:t>
            </a:r>
            <a:endParaRPr lang="en-US" sz="900" dirty="0"/>
          </a:p>
        </p:txBody>
      </p:sp>
      <p:sp>
        <p:nvSpPr>
          <p:cNvPr id="46" name="Text 44"/>
          <p:cNvSpPr txBox="1"/>
          <p:nvPr/>
        </p:nvSpPr>
        <p:spPr>
          <a:xfrm>
            <a:off x="8537448" y="2446020"/>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Moat Definition &amp; Measurement</a:t>
            </a:r>
            <a:endParaRPr lang="en-US" sz="1000" dirty="0"/>
          </a:p>
        </p:txBody>
      </p:sp>
      <p:sp>
        <p:nvSpPr>
          <p:cNvPr id="47" name="Text 45"/>
          <p:cNvSpPr txBox="1"/>
          <p:nvPr/>
        </p:nvSpPr>
        <p:spPr>
          <a:xfrm>
            <a:off x="8281416" y="2752344"/>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3</a:t>
            </a:r>
            <a:endParaRPr lang="en-US" sz="900" dirty="0"/>
          </a:p>
        </p:txBody>
      </p:sp>
      <p:sp>
        <p:nvSpPr>
          <p:cNvPr id="48" name="Text 46"/>
          <p:cNvSpPr txBox="1"/>
          <p:nvPr/>
        </p:nvSpPr>
        <p:spPr>
          <a:xfrm>
            <a:off x="8537448" y="2752344"/>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Industry Regime Signals</a:t>
            </a:r>
            <a:endParaRPr lang="en-US" sz="1000" dirty="0"/>
          </a:p>
        </p:txBody>
      </p:sp>
      <p:sp>
        <p:nvSpPr>
          <p:cNvPr id="49" name="Text 47"/>
          <p:cNvSpPr txBox="1"/>
          <p:nvPr/>
        </p:nvSpPr>
        <p:spPr>
          <a:xfrm>
            <a:off x="8281416" y="3058668"/>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4</a:t>
            </a:r>
            <a:endParaRPr lang="en-US" sz="900" dirty="0"/>
          </a:p>
        </p:txBody>
      </p:sp>
      <p:sp>
        <p:nvSpPr>
          <p:cNvPr id="50" name="Text 48"/>
          <p:cNvSpPr txBox="1"/>
          <p:nvPr/>
        </p:nvSpPr>
        <p:spPr>
          <a:xfrm>
            <a:off x="8537448" y="3058668"/>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Management Evidence Layer</a:t>
            </a:r>
            <a:endParaRPr lang="en-US" sz="1000" dirty="0"/>
          </a:p>
        </p:txBody>
      </p:sp>
      <p:sp>
        <p:nvSpPr>
          <p:cNvPr id="51" name="Text 49"/>
          <p:cNvSpPr txBox="1"/>
          <p:nvPr/>
        </p:nvSpPr>
        <p:spPr>
          <a:xfrm>
            <a:off x="8281416" y="3364992"/>
            <a:ext cx="201168" cy="219456"/>
          </a:xfrm>
          <a:prstGeom prst="rect">
            <a:avLst/>
          </a:prstGeom>
          <a:noFill/>
          <a:ln/>
        </p:spPr>
        <p:txBody>
          <a:bodyPr wrap="square" lIns="0" tIns="0" rIns="0" bIns="0" rtlCol="0" anchor="ctr"/>
          <a:lstStyle/>
          <a:p>
            <a:pPr indent="0" marL="0">
              <a:buNone/>
            </a:pPr>
            <a:r>
              <a:rPr lang="en-US" sz="900" b="1" dirty="0">
                <a:solidFill>
                  <a:srgbClr val="8494A3"/>
                </a:solidFill>
                <a:latin typeface="Calibri" pitchFamily="34" charset="0"/>
                <a:ea typeface="Calibri" pitchFamily="34" charset="-122"/>
                <a:cs typeface="Calibri" pitchFamily="34" charset="-120"/>
              </a:rPr>
              <a:t>5</a:t>
            </a:r>
            <a:endParaRPr lang="en-US" sz="900" dirty="0"/>
          </a:p>
        </p:txBody>
      </p:sp>
      <p:sp>
        <p:nvSpPr>
          <p:cNvPr id="52" name="Text 50"/>
          <p:cNvSpPr txBox="1"/>
          <p:nvPr/>
        </p:nvSpPr>
        <p:spPr>
          <a:xfrm>
            <a:off x="8537448" y="3364992"/>
            <a:ext cx="3020568" cy="219456"/>
          </a:xfrm>
          <a:prstGeom prst="rect">
            <a:avLst/>
          </a:prstGeom>
          <a:noFill/>
          <a:ln/>
        </p:spPr>
        <p:txBody>
          <a:bodyPr wrap="square" lIns="0" tIns="0" rIns="0" bIns="0" rtlCol="0" anchor="ctr"/>
          <a:lstStyle/>
          <a:p>
            <a:pPr indent="0" marL="0">
              <a:buNone/>
            </a:pPr>
            <a:r>
              <a:rPr lang="en-US" sz="1000" dirty="0">
                <a:solidFill>
                  <a:srgbClr val="0B2239"/>
                </a:solidFill>
                <a:latin typeface="Calibri" pitchFamily="34" charset="0"/>
                <a:ea typeface="Calibri" pitchFamily="34" charset="-122"/>
                <a:cs typeface="Calibri" pitchFamily="34" charset="-120"/>
              </a:rPr>
              <a:t>Academic / Quantitative Research</a:t>
            </a:r>
            <a:endParaRPr lang="en-US" sz="1000" dirty="0"/>
          </a:p>
        </p:txBody>
      </p:sp>
      <p:sp>
        <p:nvSpPr>
          <p:cNvPr id="53" name="Shape 51"/>
          <p:cNvSpPr/>
          <p:nvPr/>
        </p:nvSpPr>
        <p:spPr>
          <a:xfrm>
            <a:off x="8263128" y="3767328"/>
            <a:ext cx="3313176" cy="475488"/>
          </a:xfrm>
          <a:prstGeom prst="roundRect">
            <a:avLst>
              <a:gd name="adj" fmla="val 9615"/>
            </a:avLst>
          </a:prstGeom>
          <a:solidFill>
            <a:srgbClr val="F4F7FA"/>
          </a:solidFill>
          <a:ln w="12700">
            <a:solidFill>
              <a:srgbClr val="F4F7FA"/>
            </a:solidFill>
            <a:prstDash val="solid"/>
          </a:ln>
        </p:spPr>
      </p:sp>
      <p:sp>
        <p:nvSpPr>
          <p:cNvPr id="54" name="Text 52"/>
          <p:cNvSpPr txBox="1"/>
          <p:nvPr/>
        </p:nvSpPr>
        <p:spPr>
          <a:xfrm>
            <a:off x="8372856" y="3767328"/>
            <a:ext cx="3093720" cy="475488"/>
          </a:xfrm>
          <a:prstGeom prst="rect">
            <a:avLst/>
          </a:prstGeom>
          <a:noFill/>
          <a:ln/>
        </p:spPr>
        <p:txBody>
          <a:bodyPr wrap="square" lIns="0" tIns="0" rIns="0" bIns="0" rtlCol="0" anchor="ctr"/>
          <a:lstStyle/>
          <a:p>
            <a:pPr indent="0" marL="0">
              <a:buNone/>
            </a:pPr>
            <a:r>
              <a:rPr lang="en-US" sz="850" dirty="0">
                <a:solidFill>
                  <a:srgbClr val="5C6B7A"/>
                </a:solidFill>
                <a:latin typeface="Calibri" pitchFamily="34" charset="0"/>
                <a:ea typeface="Calibri" pitchFamily="34" charset="-122"/>
                <a:cs typeface="Calibri" pitchFamily="34" charset="-120"/>
              </a:rPr>
              <a:t>이미 만들어진 Research OS의 분석 품질을 지속 개선한다.</a:t>
            </a:r>
            <a:endParaRPr lang="en-US" sz="850" dirty="0"/>
          </a:p>
        </p:txBody>
      </p:sp>
      <p:sp>
        <p:nvSpPr>
          <p:cNvPr id="55" name="Text 53"/>
          <p:cNvSpPr txBox="1"/>
          <p:nvPr/>
        </p:nvSpPr>
        <p:spPr>
          <a:xfrm>
            <a:off x="411480" y="4626864"/>
            <a:ext cx="2743200" cy="219456"/>
          </a:xfrm>
          <a:prstGeom prst="rect">
            <a:avLst/>
          </a:prstGeom>
          <a:noFill/>
          <a:ln/>
        </p:spPr>
        <p:txBody>
          <a:bodyPr wrap="square" lIns="0" tIns="0" rIns="0" bIns="0" rtlCol="0" anchor="ctr"/>
          <a:lstStyle/>
          <a:p>
            <a:pPr indent="0" marL="0">
              <a:buNone/>
            </a:pPr>
            <a:r>
              <a:rPr lang="en-US" sz="1000" b="1" spc="100" kern="0" dirty="0">
                <a:solidFill>
                  <a:srgbClr val="0B2239"/>
                </a:solidFill>
                <a:latin typeface="Calibri" pitchFamily="34" charset="0"/>
                <a:ea typeface="Calibri" pitchFamily="34" charset="-122"/>
                <a:cs typeface="Calibri" pitchFamily="34" charset="-120"/>
              </a:rPr>
              <a:t>NON-NEGOTIABLE</a:t>
            </a:r>
            <a:endParaRPr lang="en-US" sz="1000" dirty="0"/>
          </a:p>
        </p:txBody>
      </p:sp>
      <p:sp>
        <p:nvSpPr>
          <p:cNvPr id="56" name="Text 54"/>
          <p:cNvSpPr txBox="1"/>
          <p:nvPr/>
        </p:nvSpPr>
        <p:spPr>
          <a:xfrm>
            <a:off x="411480" y="4937760"/>
            <a:ext cx="1980590" cy="182880"/>
          </a:xfrm>
          <a:prstGeom prst="rect">
            <a:avLst/>
          </a:prstGeom>
          <a:noFill/>
          <a:ln/>
        </p:spPr>
        <p:txBody>
          <a:bodyPr wrap="square" lIns="0" tIns="0" rIns="0" bIns="0" rtlCol="0" anchor="ctr"/>
          <a:lstStyle/>
          <a:p>
            <a:pPr indent="0" marL="0">
              <a:buNone/>
            </a:pPr>
            <a:r>
              <a:rPr lang="en-US" sz="900" b="1" spc="50" kern="0" dirty="0">
                <a:solidFill>
                  <a:srgbClr val="12395C"/>
                </a:solidFill>
                <a:latin typeface="Calibri" pitchFamily="34" charset="0"/>
                <a:ea typeface="Calibri" pitchFamily="34" charset="-122"/>
                <a:cs typeface="Calibri" pitchFamily="34" charset="-120"/>
              </a:rPr>
              <a:t>DATA</a:t>
            </a:r>
            <a:endParaRPr lang="en-US" sz="900" dirty="0"/>
          </a:p>
        </p:txBody>
      </p:sp>
      <p:sp>
        <p:nvSpPr>
          <p:cNvPr id="57" name="Text 55"/>
          <p:cNvSpPr txBox="1"/>
          <p:nvPr/>
        </p:nvSpPr>
        <p:spPr>
          <a:xfrm>
            <a:off x="411480" y="5138928"/>
            <a:ext cx="1980590" cy="420624"/>
          </a:xfrm>
          <a:prstGeom prst="rect">
            <a:avLst/>
          </a:prstGeom>
          <a:noFill/>
          <a:ln/>
        </p:spPr>
        <p:txBody>
          <a:bodyPr wrap="square" lIns="0" tIns="0" rIns="0" bIns="0" rtlCol="0" anchor="ctr"/>
          <a:lstStyle/>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No fabrication</a:t>
            </a:r>
            <a:endParaRPr lang="en-US" sz="800" dirty="0"/>
          </a:p>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Missing data = missing data</a:t>
            </a:r>
            <a:endParaRPr lang="en-US" sz="800" dirty="0"/>
          </a:p>
        </p:txBody>
      </p:sp>
      <p:sp>
        <p:nvSpPr>
          <p:cNvPr id="58" name="Text 56"/>
          <p:cNvSpPr txBox="1"/>
          <p:nvPr/>
        </p:nvSpPr>
        <p:spPr>
          <a:xfrm>
            <a:off x="2757830" y="4937760"/>
            <a:ext cx="1980590" cy="182880"/>
          </a:xfrm>
          <a:prstGeom prst="rect">
            <a:avLst/>
          </a:prstGeom>
          <a:noFill/>
          <a:ln/>
        </p:spPr>
        <p:txBody>
          <a:bodyPr wrap="square" lIns="0" tIns="0" rIns="0" bIns="0" rtlCol="0" anchor="ctr"/>
          <a:lstStyle/>
          <a:p>
            <a:pPr indent="0" marL="0">
              <a:buNone/>
            </a:pPr>
            <a:r>
              <a:rPr lang="en-US" sz="900" b="1" spc="50" kern="0" dirty="0">
                <a:solidFill>
                  <a:srgbClr val="12395C"/>
                </a:solidFill>
                <a:latin typeface="Calibri" pitchFamily="34" charset="0"/>
                <a:ea typeface="Calibri" pitchFamily="34" charset="-122"/>
                <a:cs typeface="Calibri" pitchFamily="34" charset="-120"/>
              </a:rPr>
              <a:t>EVIDENCE</a:t>
            </a:r>
            <a:endParaRPr lang="en-US" sz="900" dirty="0"/>
          </a:p>
        </p:txBody>
      </p:sp>
      <p:sp>
        <p:nvSpPr>
          <p:cNvPr id="59" name="Text 57"/>
          <p:cNvSpPr txBox="1"/>
          <p:nvPr/>
        </p:nvSpPr>
        <p:spPr>
          <a:xfrm>
            <a:off x="2757830" y="5138928"/>
            <a:ext cx="1980590" cy="420624"/>
          </a:xfrm>
          <a:prstGeom prst="rect">
            <a:avLst/>
          </a:prstGeom>
          <a:noFill/>
          <a:ln/>
        </p:spPr>
        <p:txBody>
          <a:bodyPr wrap="square" lIns="0" tIns="0" rIns="0" bIns="0" rtlCol="0" anchor="ctr"/>
          <a:lstStyle/>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Primary sources first</a:t>
            </a:r>
            <a:endParaRPr lang="en-US" sz="800" dirty="0"/>
          </a:p>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Evidence traceability</a:t>
            </a:r>
            <a:endParaRPr lang="en-US" sz="800" dirty="0"/>
          </a:p>
        </p:txBody>
      </p:sp>
      <p:sp>
        <p:nvSpPr>
          <p:cNvPr id="60" name="Text 58"/>
          <p:cNvSpPr txBox="1"/>
          <p:nvPr/>
        </p:nvSpPr>
        <p:spPr>
          <a:xfrm>
            <a:off x="5104181" y="4937760"/>
            <a:ext cx="1980590" cy="182880"/>
          </a:xfrm>
          <a:prstGeom prst="rect">
            <a:avLst/>
          </a:prstGeom>
          <a:noFill/>
          <a:ln/>
        </p:spPr>
        <p:txBody>
          <a:bodyPr wrap="square" lIns="0" tIns="0" rIns="0" bIns="0" rtlCol="0" anchor="ctr"/>
          <a:lstStyle/>
          <a:p>
            <a:pPr indent="0" marL="0">
              <a:buNone/>
            </a:pPr>
            <a:r>
              <a:rPr lang="en-US" sz="900" b="1" spc="50" kern="0" dirty="0">
                <a:solidFill>
                  <a:srgbClr val="12395C"/>
                </a:solidFill>
                <a:latin typeface="Calibri" pitchFamily="34" charset="0"/>
                <a:ea typeface="Calibri" pitchFamily="34" charset="-122"/>
                <a:cs typeface="Calibri" pitchFamily="34" charset="-120"/>
              </a:rPr>
              <a:t>VALIDATION</a:t>
            </a:r>
            <a:endParaRPr lang="en-US" sz="900" dirty="0"/>
          </a:p>
        </p:txBody>
      </p:sp>
      <p:sp>
        <p:nvSpPr>
          <p:cNvPr id="61" name="Text 59"/>
          <p:cNvSpPr txBox="1"/>
          <p:nvPr/>
        </p:nvSpPr>
        <p:spPr>
          <a:xfrm>
            <a:off x="5104181" y="5138928"/>
            <a:ext cx="1980590" cy="420624"/>
          </a:xfrm>
          <a:prstGeom prst="rect">
            <a:avLst/>
          </a:prstGeom>
          <a:noFill/>
          <a:ln/>
        </p:spPr>
        <p:txBody>
          <a:bodyPr wrap="square" lIns="0" tIns="0" rIns="0" bIns="0" rtlCol="0" anchor="ctr"/>
          <a:lstStyle/>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Measure before wiring</a:t>
            </a:r>
            <a:endParaRPr lang="en-US" sz="800" dirty="0"/>
          </a:p>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No post-hoc threshold adjustment</a:t>
            </a:r>
            <a:endParaRPr lang="en-US" sz="800" dirty="0"/>
          </a:p>
        </p:txBody>
      </p:sp>
      <p:sp>
        <p:nvSpPr>
          <p:cNvPr id="62" name="Text 60"/>
          <p:cNvSpPr txBox="1"/>
          <p:nvPr/>
        </p:nvSpPr>
        <p:spPr>
          <a:xfrm>
            <a:off x="7450531" y="4937760"/>
            <a:ext cx="1980590" cy="182880"/>
          </a:xfrm>
          <a:prstGeom prst="rect">
            <a:avLst/>
          </a:prstGeom>
          <a:noFill/>
          <a:ln/>
        </p:spPr>
        <p:txBody>
          <a:bodyPr wrap="square" lIns="0" tIns="0" rIns="0" bIns="0" rtlCol="0" anchor="ctr"/>
          <a:lstStyle/>
          <a:p>
            <a:pPr indent="0" marL="0">
              <a:buNone/>
            </a:pPr>
            <a:r>
              <a:rPr lang="en-US" sz="900" b="1" spc="50" kern="0" dirty="0">
                <a:solidFill>
                  <a:srgbClr val="12395C"/>
                </a:solidFill>
                <a:latin typeface="Calibri" pitchFamily="34" charset="0"/>
                <a:ea typeface="Calibri" pitchFamily="34" charset="-122"/>
                <a:cs typeface="Calibri" pitchFamily="34" charset="-120"/>
              </a:rPr>
              <a:t>GOVERNANCE</a:t>
            </a:r>
            <a:endParaRPr lang="en-US" sz="900" dirty="0"/>
          </a:p>
        </p:txBody>
      </p:sp>
      <p:sp>
        <p:nvSpPr>
          <p:cNvPr id="63" name="Text 61"/>
          <p:cNvSpPr txBox="1"/>
          <p:nvPr/>
        </p:nvSpPr>
        <p:spPr>
          <a:xfrm>
            <a:off x="7450531" y="5138928"/>
            <a:ext cx="1980590" cy="420624"/>
          </a:xfrm>
          <a:prstGeom prst="rect">
            <a:avLst/>
          </a:prstGeom>
          <a:noFill/>
          <a:ln/>
        </p:spPr>
        <p:txBody>
          <a:bodyPr wrap="square" lIns="0" tIns="0" rIns="0" bIns="0" rtlCol="0" anchor="ctr"/>
          <a:lstStyle/>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Human approval</a:t>
            </a:r>
            <a:endParaRPr lang="en-US" sz="800" dirty="0"/>
          </a:p>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No silent BUY</a:t>
            </a:r>
            <a:endParaRPr lang="en-US" sz="800" dirty="0"/>
          </a:p>
        </p:txBody>
      </p:sp>
      <p:sp>
        <p:nvSpPr>
          <p:cNvPr id="64" name="Text 62"/>
          <p:cNvSpPr txBox="1"/>
          <p:nvPr/>
        </p:nvSpPr>
        <p:spPr>
          <a:xfrm>
            <a:off x="9796882" y="4937760"/>
            <a:ext cx="1980590" cy="182880"/>
          </a:xfrm>
          <a:prstGeom prst="rect">
            <a:avLst/>
          </a:prstGeom>
          <a:noFill/>
          <a:ln/>
        </p:spPr>
        <p:txBody>
          <a:bodyPr wrap="square" lIns="0" tIns="0" rIns="0" bIns="0" rtlCol="0" anchor="ctr"/>
          <a:lstStyle/>
          <a:p>
            <a:pPr indent="0" marL="0">
              <a:buNone/>
            </a:pPr>
            <a:r>
              <a:rPr lang="en-US" sz="900" b="1" spc="50" kern="0" dirty="0">
                <a:solidFill>
                  <a:srgbClr val="12395C"/>
                </a:solidFill>
                <a:latin typeface="Calibri" pitchFamily="34" charset="0"/>
                <a:ea typeface="Calibri" pitchFamily="34" charset="-122"/>
                <a:cs typeface="Calibri" pitchFamily="34" charset="-120"/>
              </a:rPr>
              <a:t>REPRODUCIBILITY</a:t>
            </a:r>
            <a:endParaRPr lang="en-US" sz="900" dirty="0"/>
          </a:p>
        </p:txBody>
      </p:sp>
      <p:sp>
        <p:nvSpPr>
          <p:cNvPr id="65" name="Text 63"/>
          <p:cNvSpPr txBox="1"/>
          <p:nvPr/>
        </p:nvSpPr>
        <p:spPr>
          <a:xfrm>
            <a:off x="9796882" y="5138928"/>
            <a:ext cx="1980590" cy="420624"/>
          </a:xfrm>
          <a:prstGeom prst="rect">
            <a:avLst/>
          </a:prstGeom>
          <a:noFill/>
          <a:ln/>
        </p:spPr>
        <p:txBody>
          <a:bodyPr wrap="square" lIns="0" tIns="0" rIns="0" bIns="0" rtlCol="0" anchor="ctr"/>
          <a:lstStyle/>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Golden tests · immutable ledger</a:t>
            </a:r>
            <a:endParaRPr lang="en-US" sz="800" dirty="0"/>
          </a:p>
          <a:p>
            <a:pPr indent="0" marL="0">
              <a:lnSpc>
                <a:spcPts val="1000"/>
              </a:lnSpc>
              <a:buNone/>
            </a:pPr>
            <a:r>
              <a:rPr lang="en-US" sz="800" dirty="0">
                <a:solidFill>
                  <a:srgbClr val="5C6B7A"/>
                </a:solidFill>
                <a:latin typeface="Calibri" pitchFamily="34" charset="0"/>
                <a:ea typeface="Calibri" pitchFamily="34" charset="-122"/>
                <a:cs typeface="Calibri" pitchFamily="34" charset="-120"/>
              </a:rPr>
              <a:t>Audit trail</a:t>
            </a:r>
            <a:endParaRPr lang="en-US" sz="800" dirty="0"/>
          </a:p>
        </p:txBody>
      </p:sp>
      <p:sp>
        <p:nvSpPr>
          <p:cNvPr id="66" name="Shape 64"/>
          <p:cNvSpPr/>
          <p:nvPr/>
        </p:nvSpPr>
        <p:spPr>
          <a:xfrm>
            <a:off x="411480" y="5742432"/>
            <a:ext cx="11365992" cy="749808"/>
          </a:xfrm>
          <a:prstGeom prst="roundRect">
            <a:avLst>
              <a:gd name="adj" fmla="val 7317"/>
            </a:avLst>
          </a:prstGeom>
          <a:solidFill>
            <a:srgbClr val="0B2239"/>
          </a:solidFill>
          <a:ln w="12700">
            <a:solidFill>
              <a:srgbClr val="0B2239"/>
            </a:solidFill>
            <a:prstDash val="solid"/>
          </a:ln>
        </p:spPr>
      </p:sp>
      <p:sp>
        <p:nvSpPr>
          <p:cNvPr id="67" name="Text 65"/>
          <p:cNvSpPr txBox="1"/>
          <p:nvPr/>
        </p:nvSpPr>
        <p:spPr>
          <a:xfrm>
            <a:off x="722376" y="5742432"/>
            <a:ext cx="10744200" cy="749808"/>
          </a:xfrm>
          <a:prstGeom prst="rect">
            <a:avLst/>
          </a:prstGeom>
          <a:noFill/>
          <a:ln/>
        </p:spPr>
        <p:txBody>
          <a:bodyPr wrap="square" lIns="0" tIns="0" rIns="0" bIns="0" rtlCol="0" anchor="ctr"/>
          <a:lstStyle/>
          <a:p>
            <a:pPr indent="0" marL="0">
              <a:buNone/>
            </a:pPr>
            <a:r>
              <a:rPr lang="en-US" sz="1000" dirty="0">
                <a:solidFill>
                  <a:srgbClr val="DCE7F0"/>
                </a:solidFill>
                <a:latin typeface="Calibri" pitchFamily="34" charset="0"/>
                <a:ea typeface="Calibri" pitchFamily="34" charset="-122"/>
                <a:cs typeface="Calibri" pitchFamily="34" charset="-120"/>
              </a:rPr>
              <a:t>IRS의 최종 목표는 더 많은 분석 기능을 갖는 것이 아니다.  시장 변화를 지속적으로 관찰하고, 조사 가치가 높은 문제를 발견하고, 검증된 근거로 투자 판단을 지원하고, Investment Thesis를 지속적으로 감시하며, 실제 결과를 통해 스스로의 판단 체계를 개선하는 Continuous Investment Research OS를 만드는 것이다.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IRS Investment Research OS</dc:title>
  <dc:subject>PptxGenJS Presentation</dc:subject>
  <dc:creator>IRS</dc:creator>
  <cp:lastModifiedBy>IRS</cp:lastModifiedBy>
  <cp:revision>1</cp:revision>
  <dcterms:created xsi:type="dcterms:W3CDTF">2026-08-27T06:58:15Z</dcterms:created>
  <dcterms:modified xsi:type="dcterms:W3CDTF">2026-08-27T06:58:15Z</dcterms:modified>
</cp:coreProperties>
</file>